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21"/>
  </p:notesMasterIdLst>
  <p:handoutMasterIdLst>
    <p:handoutMasterId r:id="rId22"/>
  </p:handoutMasterIdLst>
  <p:sldIdLst>
    <p:sldId id="479" r:id="rId2"/>
    <p:sldId id="480" r:id="rId3"/>
    <p:sldId id="481" r:id="rId4"/>
    <p:sldId id="482" r:id="rId5"/>
    <p:sldId id="483" r:id="rId6"/>
    <p:sldId id="484" r:id="rId7"/>
    <p:sldId id="485" r:id="rId8"/>
    <p:sldId id="487" r:id="rId9"/>
    <p:sldId id="489" r:id="rId10"/>
    <p:sldId id="505" r:id="rId32"/>
    <p:sldId id="506" r:id="rId33"/>
    <p:sldId id="507" r:id="rId34"/>
    <p:sldId id="508" r:id="rId35"/>
    <p:sldId id="509" r:id="rId36"/>
    <p:sldId id="510" r:id="rId37"/>
    <p:sldId id="511" r:id="rId38"/>
    <p:sldId id="512" r:id="rId39"/>
    <p:sldId id="490" r:id="rId11"/>
    <p:sldId id="492" r:id="rId12"/>
    <p:sldId id="493" r:id="rId13"/>
    <p:sldId id="494" r:id="rId14"/>
    <p:sldId id="495" r:id="rId15"/>
    <p:sldId id="496" r:id="rId16"/>
    <p:sldId id="501" r:id="rId28"/>
    <p:sldId id="502" r:id="rId29"/>
    <p:sldId id="503" r:id="rId30"/>
    <p:sldId id="504" r:id="rId31"/>
    <p:sldId id="497" r:id="rId17"/>
    <p:sldId id="498" r:id="rId18"/>
    <p:sldId id="500" r:id="rId19"/>
    <p:sldId id="488" r:id="rId20"/>
  </p:sldIdLst>
  <p:sldSz cx="13004800" cy="9753600"/>
  <p:notesSz cx="7315200" cy="9601200"/>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mn-cs"/>
        <a:sym typeface="Gill Sans" charset="0"/>
      </a:defRPr>
    </a:lvl5pPr>
    <a:lvl6pPr marL="2286000" algn="l" defTabSz="914400" rtl="0" eaLnBrk="1" latinLnBrk="0" hangingPunct="1">
      <a:defRPr sz="4200" kern="1200">
        <a:solidFill>
          <a:srgbClr val="000000"/>
        </a:solidFill>
        <a:latin typeface="Gill Sans" charset="0"/>
        <a:ea typeface="ヒラギノ角ゴ ProN W3" charset="-128"/>
        <a:cs typeface="+mn-cs"/>
        <a:sym typeface="Gill Sans" charset="0"/>
      </a:defRPr>
    </a:lvl6pPr>
    <a:lvl7pPr marL="2743200" algn="l" defTabSz="914400" rtl="0" eaLnBrk="1" latinLnBrk="0" hangingPunct="1">
      <a:defRPr sz="4200" kern="1200">
        <a:solidFill>
          <a:srgbClr val="000000"/>
        </a:solidFill>
        <a:latin typeface="Gill Sans" charset="0"/>
        <a:ea typeface="ヒラギノ角ゴ ProN W3" charset="-128"/>
        <a:cs typeface="+mn-cs"/>
        <a:sym typeface="Gill Sans" charset="0"/>
      </a:defRPr>
    </a:lvl7pPr>
    <a:lvl8pPr marL="3200400" algn="l" defTabSz="914400" rtl="0" eaLnBrk="1" latinLnBrk="0" hangingPunct="1">
      <a:defRPr sz="4200" kern="1200">
        <a:solidFill>
          <a:srgbClr val="000000"/>
        </a:solidFill>
        <a:latin typeface="Gill Sans" charset="0"/>
        <a:ea typeface="ヒラギノ角ゴ ProN W3" charset="-128"/>
        <a:cs typeface="+mn-cs"/>
        <a:sym typeface="Gill Sans" charset="0"/>
      </a:defRPr>
    </a:lvl8pPr>
    <a:lvl9pPr marL="3657600" algn="l" defTabSz="914400" rtl="0" eaLnBrk="1" latinLnBrk="0" hangingPunct="1">
      <a:defRPr sz="4200" kern="1200">
        <a:solidFill>
          <a:srgbClr val="000000"/>
        </a:solidFill>
        <a:latin typeface="Gill Sans" charset="0"/>
        <a:ea typeface="ヒラギノ角ゴ ProN W3" charset="-128"/>
        <a:cs typeface="+mn-cs"/>
        <a:sym typeface="Gill Sans"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F2C"/>
    <a:srgbClr val="ADC610"/>
    <a:srgbClr val="00A6D6"/>
    <a:srgbClr val="A100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639" autoAdjust="0"/>
  </p:normalViewPr>
  <p:slideViewPr>
    <p:cSldViewPr snapToGrid="0">
      <p:cViewPr varScale="1">
        <p:scale>
          <a:sx n="68" d="100"/>
          <a:sy n="68" d="100"/>
        </p:scale>
        <p:origin x="1500" y="68"/>
      </p:cViewPr>
      <p:guideLst>
        <p:guide orient="horz" pos="3072"/>
        <p:guide pos="4096"/>
      </p:guideLst>
    </p:cSldViewPr>
  </p:slideViewPr>
  <p:outlineViewPr>
    <p:cViewPr>
      <p:scale>
        <a:sx n="33" d="100"/>
        <a:sy n="33" d="100"/>
      </p:scale>
      <p:origin x="0" y="0"/>
    </p:cViewPr>
  </p:outlineViewPr>
  <p:notesTextViewPr>
    <p:cViewPr>
      <p:scale>
        <a:sx n="1" d="1"/>
        <a:sy n="1" d="1"/>
      </p:scale>
      <p:origin x="0" y="0"/>
    </p:cViewPr>
  </p:notesTextViewPr>
  <p:sorterViewPr>
    <p:cViewPr>
      <p:scale>
        <a:sx n="70" d="100"/>
        <a:sy n="70" d="100"/>
      </p:scale>
      <p:origin x="0" y="0"/>
    </p:cViewPr>
  </p:sorterViewPr>
  <p:notesViewPr>
    <p:cSldViewPr snapToGrid="0">
      <p:cViewPr varScale="1">
        <p:scale>
          <a:sx n="83" d="100"/>
          <a:sy n="83" d="100"/>
        </p:scale>
        <p:origin x="-1992" y="-7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ep Cow" userId="3134ff08275ab962" providerId="LiveId" clId="{98D7ADEE-020C-4B6D-A583-8862E25C1BBA}"/>
    <pc:docChg chg="modMainMaster">
      <pc:chgData name="sheep Cow" userId="3134ff08275ab962" providerId="LiveId" clId="{98D7ADEE-020C-4B6D-A583-8862E25C1BBA}" dt="2026-06-09T14:58:02.183" v="23" actId="20577"/>
      <pc:docMkLst>
        <pc:docMk/>
      </pc:docMkLst>
      <pc:sldMasterChg chg="modSp mod modSldLayout">
        <pc:chgData name="sheep Cow" userId="3134ff08275ab962" providerId="LiveId" clId="{98D7ADEE-020C-4B6D-A583-8862E25C1BBA}" dt="2026-06-09T14:58:02.183" v="23" actId="20577"/>
        <pc:sldMasterMkLst>
          <pc:docMk/>
          <pc:sldMasterMk cId="0" sldId="2147483673"/>
        </pc:sldMasterMkLst>
        <pc:spChg chg="mod">
          <ac:chgData name="sheep Cow" userId="3134ff08275ab962" providerId="LiveId" clId="{98D7ADEE-020C-4B6D-A583-8862E25C1BBA}" dt="2026-06-09T14:32:25.757" v="1" actId="20577"/>
          <ac:spMkLst>
            <pc:docMk/>
            <pc:sldMasterMk cId="0" sldId="2147483673"/>
            <ac:spMk id="1036" creationId="{00000000-0000-0000-0000-000000000000}"/>
          </ac:spMkLst>
        </pc:spChg>
        <pc:sldLayoutChg chg="modSp mod">
          <pc:chgData name="sheep Cow" userId="3134ff08275ab962" providerId="LiveId" clId="{98D7ADEE-020C-4B6D-A583-8862E25C1BBA}" dt="2026-06-09T14:57:24.132" v="3" actId="20577"/>
          <pc:sldLayoutMkLst>
            <pc:docMk/>
            <pc:sldMasterMk cId="0" sldId="2147483673"/>
            <pc:sldLayoutMk cId="711569378" sldId="2147484095"/>
          </pc:sldLayoutMkLst>
          <pc:spChg chg="mod">
            <ac:chgData name="sheep Cow" userId="3134ff08275ab962" providerId="LiveId" clId="{98D7ADEE-020C-4B6D-A583-8862E25C1BBA}" dt="2026-06-09T14:57:24.132" v="3" actId="20577"/>
            <ac:spMkLst>
              <pc:docMk/>
              <pc:sldMasterMk cId="0" sldId="2147483673"/>
              <pc:sldLayoutMk cId="711569378" sldId="2147484095"/>
              <ac:spMk id="4" creationId="{87300406-C28F-4B2A-8117-ABFF9F9F1D31}"/>
            </ac:spMkLst>
          </pc:spChg>
        </pc:sldLayoutChg>
        <pc:sldLayoutChg chg="modSp mod">
          <pc:chgData name="sheep Cow" userId="3134ff08275ab962" providerId="LiveId" clId="{98D7ADEE-020C-4B6D-A583-8862E25C1BBA}" dt="2026-06-09T14:57:26.936" v="5" actId="20577"/>
          <pc:sldLayoutMkLst>
            <pc:docMk/>
            <pc:sldMasterMk cId="0" sldId="2147483673"/>
            <pc:sldLayoutMk cId="1250204808" sldId="2147484096"/>
          </pc:sldLayoutMkLst>
          <pc:spChg chg="mod">
            <ac:chgData name="sheep Cow" userId="3134ff08275ab962" providerId="LiveId" clId="{98D7ADEE-020C-4B6D-A583-8862E25C1BBA}" dt="2026-06-09T14:57:26.936" v="5" actId="20577"/>
            <ac:spMkLst>
              <pc:docMk/>
              <pc:sldMasterMk cId="0" sldId="2147483673"/>
              <pc:sldLayoutMk cId="1250204808" sldId="2147484096"/>
              <ac:spMk id="4" creationId="{BD96EBB6-1653-4F6C-A1F7-DCD2B94A6DF8}"/>
            </ac:spMkLst>
          </pc:spChg>
        </pc:sldLayoutChg>
        <pc:sldLayoutChg chg="modSp mod">
          <pc:chgData name="sheep Cow" userId="3134ff08275ab962" providerId="LiveId" clId="{98D7ADEE-020C-4B6D-A583-8862E25C1BBA}" dt="2026-06-09T14:57:29.438" v="7" actId="20577"/>
          <pc:sldLayoutMkLst>
            <pc:docMk/>
            <pc:sldMasterMk cId="0" sldId="2147483673"/>
            <pc:sldLayoutMk cId="2040865071" sldId="2147484097"/>
          </pc:sldLayoutMkLst>
          <pc:spChg chg="mod">
            <ac:chgData name="sheep Cow" userId="3134ff08275ab962" providerId="LiveId" clId="{98D7ADEE-020C-4B6D-A583-8862E25C1BBA}" dt="2026-06-09T14:57:29.438" v="7" actId="20577"/>
            <ac:spMkLst>
              <pc:docMk/>
              <pc:sldMasterMk cId="0" sldId="2147483673"/>
              <pc:sldLayoutMk cId="2040865071" sldId="2147484097"/>
              <ac:spMk id="5" creationId="{9DF24786-3AE0-47BF-BFBE-0EFF5C8A5531}"/>
            </ac:spMkLst>
          </pc:spChg>
        </pc:sldLayoutChg>
        <pc:sldLayoutChg chg="modSp mod">
          <pc:chgData name="sheep Cow" userId="3134ff08275ab962" providerId="LiveId" clId="{98D7ADEE-020C-4B6D-A583-8862E25C1BBA}" dt="2026-06-09T14:57:32.120" v="9" actId="20577"/>
          <pc:sldLayoutMkLst>
            <pc:docMk/>
            <pc:sldMasterMk cId="0" sldId="2147483673"/>
            <pc:sldLayoutMk cId="2855590491" sldId="2147484098"/>
          </pc:sldLayoutMkLst>
          <pc:spChg chg="mod">
            <ac:chgData name="sheep Cow" userId="3134ff08275ab962" providerId="LiveId" clId="{98D7ADEE-020C-4B6D-A583-8862E25C1BBA}" dt="2026-06-09T14:57:32.120" v="9" actId="20577"/>
            <ac:spMkLst>
              <pc:docMk/>
              <pc:sldMasterMk cId="0" sldId="2147483673"/>
              <pc:sldLayoutMk cId="2855590491" sldId="2147484098"/>
              <ac:spMk id="7" creationId="{AC380B05-CCCF-47B7-935C-6A864ACEC942}"/>
            </ac:spMkLst>
          </pc:spChg>
        </pc:sldLayoutChg>
        <pc:sldLayoutChg chg="modSp mod">
          <pc:chgData name="sheep Cow" userId="3134ff08275ab962" providerId="LiveId" clId="{98D7ADEE-020C-4B6D-A583-8862E25C1BBA}" dt="2026-06-09T14:57:34.158" v="11" actId="20577"/>
          <pc:sldLayoutMkLst>
            <pc:docMk/>
            <pc:sldMasterMk cId="0" sldId="2147483673"/>
            <pc:sldLayoutMk cId="3007423290" sldId="2147484099"/>
          </pc:sldLayoutMkLst>
          <pc:spChg chg="mod">
            <ac:chgData name="sheep Cow" userId="3134ff08275ab962" providerId="LiveId" clId="{98D7ADEE-020C-4B6D-A583-8862E25C1BBA}" dt="2026-06-09T14:57:34.158" v="11" actId="20577"/>
            <ac:spMkLst>
              <pc:docMk/>
              <pc:sldMasterMk cId="0" sldId="2147483673"/>
              <pc:sldLayoutMk cId="3007423290" sldId="2147484099"/>
              <ac:spMk id="3" creationId="{EDBFCD3A-2D90-4E3B-B4AA-EE36D390606F}"/>
            </ac:spMkLst>
          </pc:spChg>
        </pc:sldLayoutChg>
        <pc:sldLayoutChg chg="modSp mod">
          <pc:chgData name="sheep Cow" userId="3134ff08275ab962" providerId="LiveId" clId="{98D7ADEE-020C-4B6D-A583-8862E25C1BBA}" dt="2026-06-09T14:57:36.316" v="13" actId="20577"/>
          <pc:sldLayoutMkLst>
            <pc:docMk/>
            <pc:sldMasterMk cId="0" sldId="2147483673"/>
            <pc:sldLayoutMk cId="2465784474" sldId="2147484100"/>
          </pc:sldLayoutMkLst>
          <pc:spChg chg="mod">
            <ac:chgData name="sheep Cow" userId="3134ff08275ab962" providerId="LiveId" clId="{98D7ADEE-020C-4B6D-A583-8862E25C1BBA}" dt="2026-06-09T14:57:36.316" v="13" actId="20577"/>
            <ac:spMkLst>
              <pc:docMk/>
              <pc:sldMasterMk cId="0" sldId="2147483673"/>
              <pc:sldLayoutMk cId="2465784474" sldId="2147484100"/>
              <ac:spMk id="2" creationId="{8DB22D61-0884-49F1-817A-E14A68B2C222}"/>
            </ac:spMkLst>
          </pc:spChg>
        </pc:sldLayoutChg>
        <pc:sldLayoutChg chg="modSp mod">
          <pc:chgData name="sheep Cow" userId="3134ff08275ab962" providerId="LiveId" clId="{98D7ADEE-020C-4B6D-A583-8862E25C1BBA}" dt="2026-06-09T14:57:51.456" v="15" actId="20577"/>
          <pc:sldLayoutMkLst>
            <pc:docMk/>
            <pc:sldMasterMk cId="0" sldId="2147483673"/>
            <pc:sldLayoutMk cId="4086957804" sldId="2147484101"/>
          </pc:sldLayoutMkLst>
          <pc:spChg chg="mod">
            <ac:chgData name="sheep Cow" userId="3134ff08275ab962" providerId="LiveId" clId="{98D7ADEE-020C-4B6D-A583-8862E25C1BBA}" dt="2026-06-09T14:57:51.456" v="15" actId="20577"/>
            <ac:spMkLst>
              <pc:docMk/>
              <pc:sldMasterMk cId="0" sldId="2147483673"/>
              <pc:sldLayoutMk cId="4086957804" sldId="2147484101"/>
              <ac:spMk id="5" creationId="{8568C99B-F283-4C25-A874-CF8B15A662D0}"/>
            </ac:spMkLst>
          </pc:spChg>
        </pc:sldLayoutChg>
        <pc:sldLayoutChg chg="modSp mod">
          <pc:chgData name="sheep Cow" userId="3134ff08275ab962" providerId="LiveId" clId="{98D7ADEE-020C-4B6D-A583-8862E25C1BBA}" dt="2026-06-09T14:57:54.405" v="17" actId="20577"/>
          <pc:sldLayoutMkLst>
            <pc:docMk/>
            <pc:sldMasterMk cId="0" sldId="2147483673"/>
            <pc:sldLayoutMk cId="997477851" sldId="2147484102"/>
          </pc:sldLayoutMkLst>
          <pc:spChg chg="mod">
            <ac:chgData name="sheep Cow" userId="3134ff08275ab962" providerId="LiveId" clId="{98D7ADEE-020C-4B6D-A583-8862E25C1BBA}" dt="2026-06-09T14:57:54.405" v="17" actId="20577"/>
            <ac:spMkLst>
              <pc:docMk/>
              <pc:sldMasterMk cId="0" sldId="2147483673"/>
              <pc:sldLayoutMk cId="997477851" sldId="2147484102"/>
              <ac:spMk id="5" creationId="{EC198EF9-5377-4306-A86E-0057D137DE32}"/>
            </ac:spMkLst>
          </pc:spChg>
        </pc:sldLayoutChg>
        <pc:sldLayoutChg chg="modSp mod">
          <pc:chgData name="sheep Cow" userId="3134ff08275ab962" providerId="LiveId" clId="{98D7ADEE-020C-4B6D-A583-8862E25C1BBA}" dt="2026-06-09T14:57:56.354" v="19" actId="20577"/>
          <pc:sldLayoutMkLst>
            <pc:docMk/>
            <pc:sldMasterMk cId="0" sldId="2147483673"/>
            <pc:sldLayoutMk cId="611940845" sldId="2147484103"/>
          </pc:sldLayoutMkLst>
          <pc:spChg chg="mod">
            <ac:chgData name="sheep Cow" userId="3134ff08275ab962" providerId="LiveId" clId="{98D7ADEE-020C-4B6D-A583-8862E25C1BBA}" dt="2026-06-09T14:57:56.354" v="19" actId="20577"/>
            <ac:spMkLst>
              <pc:docMk/>
              <pc:sldMasterMk cId="0" sldId="2147483673"/>
              <pc:sldLayoutMk cId="611940845" sldId="2147484103"/>
              <ac:spMk id="4" creationId="{79FAFA08-66CB-4F7F-AE92-830A986C6CBB}"/>
            </ac:spMkLst>
          </pc:spChg>
        </pc:sldLayoutChg>
        <pc:sldLayoutChg chg="modSp mod">
          <pc:chgData name="sheep Cow" userId="3134ff08275ab962" providerId="LiveId" clId="{98D7ADEE-020C-4B6D-A583-8862E25C1BBA}" dt="2026-06-09T14:57:59.236" v="21" actId="20577"/>
          <pc:sldLayoutMkLst>
            <pc:docMk/>
            <pc:sldMasterMk cId="0" sldId="2147483673"/>
            <pc:sldLayoutMk cId="4253067773" sldId="2147484104"/>
          </pc:sldLayoutMkLst>
          <pc:spChg chg="mod">
            <ac:chgData name="sheep Cow" userId="3134ff08275ab962" providerId="LiveId" clId="{98D7ADEE-020C-4B6D-A583-8862E25C1BBA}" dt="2026-06-09T14:57:59.236" v="21" actId="20577"/>
            <ac:spMkLst>
              <pc:docMk/>
              <pc:sldMasterMk cId="0" sldId="2147483673"/>
              <pc:sldLayoutMk cId="4253067773" sldId="2147484104"/>
              <ac:spMk id="4" creationId="{D8F00776-E9F3-4881-9E23-7F484CC7E1F2}"/>
            </ac:spMkLst>
          </pc:spChg>
        </pc:sldLayoutChg>
        <pc:sldLayoutChg chg="modSp mod">
          <pc:chgData name="sheep Cow" userId="3134ff08275ab962" providerId="LiveId" clId="{98D7ADEE-020C-4B6D-A583-8862E25C1BBA}" dt="2026-06-09T14:58:02.183" v="23" actId="20577"/>
          <pc:sldLayoutMkLst>
            <pc:docMk/>
            <pc:sldMasterMk cId="0" sldId="2147483673"/>
            <pc:sldLayoutMk cId="723529451" sldId="2147484105"/>
          </pc:sldLayoutMkLst>
          <pc:spChg chg="mod">
            <ac:chgData name="sheep Cow" userId="3134ff08275ab962" providerId="LiveId" clId="{98D7ADEE-020C-4B6D-A583-8862E25C1BBA}" dt="2026-06-09T14:58:02.183" v="23" actId="20577"/>
            <ac:spMkLst>
              <pc:docMk/>
              <pc:sldMasterMk cId="0" sldId="2147483673"/>
              <pc:sldLayoutMk cId="723529451" sldId="2147484105"/>
              <ac:spMk id="6" creationId="{3A816C56-E554-41D7-B0E5-1D60E9782EFF}"/>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491" cy="480367"/>
          </a:xfrm>
          <a:prstGeom prst="rect">
            <a:avLst/>
          </a:prstGeom>
        </p:spPr>
        <p:txBody>
          <a:bodyPr vert="horz" lIns="94759" tIns="47380" rIns="94759" bIns="47380" rtlCol="0"/>
          <a:lstStyle>
            <a:lvl1pPr algn="l">
              <a:defRPr sz="1200"/>
            </a:lvl1pPr>
          </a:lstStyle>
          <a:p>
            <a:pPr>
              <a:defRPr/>
            </a:pPr>
            <a:endParaRPr lang="nl-NL"/>
          </a:p>
        </p:txBody>
      </p:sp>
      <p:sp>
        <p:nvSpPr>
          <p:cNvPr id="3" name="Date Placeholder 2"/>
          <p:cNvSpPr>
            <a:spLocks noGrp="1"/>
          </p:cNvSpPr>
          <p:nvPr>
            <p:ph type="dt" sz="quarter" idx="1"/>
          </p:nvPr>
        </p:nvSpPr>
        <p:spPr>
          <a:xfrm>
            <a:off x="4143001" y="0"/>
            <a:ext cx="3170491" cy="480367"/>
          </a:xfrm>
          <a:prstGeom prst="rect">
            <a:avLst/>
          </a:prstGeom>
        </p:spPr>
        <p:txBody>
          <a:bodyPr vert="horz" lIns="94759" tIns="47380" rIns="94759" bIns="47380" rtlCol="0"/>
          <a:lstStyle>
            <a:lvl1pPr algn="r">
              <a:defRPr sz="1200"/>
            </a:lvl1pPr>
          </a:lstStyle>
          <a:p>
            <a:pPr>
              <a:defRPr/>
            </a:pPr>
            <a:fld id="{0E6C65D5-DDC3-4B07-870A-2FFAC5E9F8E4}" type="datetimeFigureOut">
              <a:rPr lang="nl-NL"/>
              <a:pPr>
                <a:defRPr/>
              </a:pPr>
              <a:t>9-6-2026</a:t>
            </a:fld>
            <a:endParaRPr lang="nl-NL"/>
          </a:p>
        </p:txBody>
      </p:sp>
      <p:sp>
        <p:nvSpPr>
          <p:cNvPr id="4" name="Footer Placeholder 3"/>
          <p:cNvSpPr>
            <a:spLocks noGrp="1"/>
          </p:cNvSpPr>
          <p:nvPr>
            <p:ph type="ftr" sz="quarter" idx="2"/>
          </p:nvPr>
        </p:nvSpPr>
        <p:spPr>
          <a:xfrm>
            <a:off x="0" y="9119298"/>
            <a:ext cx="3170491" cy="480367"/>
          </a:xfrm>
          <a:prstGeom prst="rect">
            <a:avLst/>
          </a:prstGeom>
        </p:spPr>
        <p:txBody>
          <a:bodyPr vert="horz" lIns="94759" tIns="47380" rIns="94759" bIns="47380" rtlCol="0" anchor="b"/>
          <a:lstStyle>
            <a:lvl1pPr algn="l">
              <a:defRPr sz="1200"/>
            </a:lvl1pPr>
          </a:lstStyle>
          <a:p>
            <a:pPr>
              <a:defRPr/>
            </a:pPr>
            <a:endParaRPr lang="nl-NL"/>
          </a:p>
        </p:txBody>
      </p:sp>
      <p:sp>
        <p:nvSpPr>
          <p:cNvPr id="5" name="Slide Number Placeholder 4"/>
          <p:cNvSpPr>
            <a:spLocks noGrp="1"/>
          </p:cNvSpPr>
          <p:nvPr>
            <p:ph type="sldNum" sz="quarter" idx="3"/>
          </p:nvPr>
        </p:nvSpPr>
        <p:spPr>
          <a:xfrm>
            <a:off x="4143001" y="9119298"/>
            <a:ext cx="3170491" cy="480367"/>
          </a:xfrm>
          <a:prstGeom prst="rect">
            <a:avLst/>
          </a:prstGeom>
        </p:spPr>
        <p:txBody>
          <a:bodyPr vert="horz" lIns="94759" tIns="47380" rIns="94759" bIns="47380" rtlCol="0" anchor="b"/>
          <a:lstStyle>
            <a:lvl1pPr algn="r">
              <a:defRPr sz="1200"/>
            </a:lvl1pPr>
          </a:lstStyle>
          <a:p>
            <a:pPr>
              <a:defRPr/>
            </a:pPr>
            <a:fld id="{2AFE05FC-A1DC-47D0-87F1-D78168C109C4}" type="slidenum">
              <a:rPr lang="nl-NL"/>
              <a:pPr>
                <a:defRPr/>
              </a:pPr>
              <a:t>‹#›</a:t>
            </a:fld>
            <a:endParaRPr lang="nl-NL"/>
          </a:p>
        </p:txBody>
      </p:sp>
    </p:spTree>
    <p:extLst>
      <p:ext uri="{BB962C8B-B14F-4D97-AF65-F5344CB8AC3E}">
        <p14:creationId xmlns:p14="http://schemas.microsoft.com/office/powerpoint/2010/main" val="2350646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491" cy="480367"/>
          </a:xfrm>
          <a:prstGeom prst="rect">
            <a:avLst/>
          </a:prstGeom>
        </p:spPr>
        <p:txBody>
          <a:bodyPr vert="horz" lIns="94759" tIns="47380" rIns="94759" bIns="47380" rtlCol="0"/>
          <a:lstStyle>
            <a:lvl1pPr algn="l">
              <a:defRPr sz="1200">
                <a:ea typeface="ヒラギノ角ゴ ProN W3" charset="0"/>
                <a:cs typeface="ヒラギノ角ゴ ProN W3" charset="0"/>
              </a:defRPr>
            </a:lvl1pPr>
          </a:lstStyle>
          <a:p>
            <a:pPr>
              <a:defRPr/>
            </a:pPr>
            <a:endParaRPr lang="nl-NL"/>
          </a:p>
        </p:txBody>
      </p:sp>
      <p:sp>
        <p:nvSpPr>
          <p:cNvPr id="3" name="Date Placeholder 2"/>
          <p:cNvSpPr>
            <a:spLocks noGrp="1"/>
          </p:cNvSpPr>
          <p:nvPr>
            <p:ph type="dt" idx="1"/>
          </p:nvPr>
        </p:nvSpPr>
        <p:spPr>
          <a:xfrm>
            <a:off x="4143001" y="0"/>
            <a:ext cx="3170491" cy="480367"/>
          </a:xfrm>
          <a:prstGeom prst="rect">
            <a:avLst/>
          </a:prstGeom>
        </p:spPr>
        <p:txBody>
          <a:bodyPr vert="horz" wrap="square" lIns="94759" tIns="47380" rIns="94759" bIns="47380" numCol="1" anchor="t" anchorCtr="0" compatLnSpc="1">
            <a:prstTxWarp prst="textNoShape">
              <a:avLst/>
            </a:prstTxWarp>
          </a:bodyPr>
          <a:lstStyle>
            <a:lvl1pPr algn="r">
              <a:defRPr sz="1200"/>
            </a:lvl1pPr>
          </a:lstStyle>
          <a:p>
            <a:pPr>
              <a:defRPr/>
            </a:pPr>
            <a:fld id="{821966DA-52FB-49A6-8F8C-06A37E84FA77}" type="datetimeFigureOut">
              <a:rPr lang="nl-NL" altLang="nl-NL"/>
              <a:pPr>
                <a:defRPr/>
              </a:pPr>
              <a:t>9-6-2026</a:t>
            </a:fld>
            <a:endParaRPr lang="nl-NL" altLang="nl-NL"/>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4759" tIns="47380" rIns="94759" bIns="47380" rtlCol="0" anchor="ctr"/>
          <a:lstStyle/>
          <a:p>
            <a:pPr lvl="0"/>
            <a:endParaRPr lang="nl-NL" noProof="0"/>
          </a:p>
        </p:txBody>
      </p:sp>
      <p:sp>
        <p:nvSpPr>
          <p:cNvPr id="5" name="Notes Placeholder 4"/>
          <p:cNvSpPr>
            <a:spLocks noGrp="1"/>
          </p:cNvSpPr>
          <p:nvPr>
            <p:ph type="body" sz="quarter" idx="3"/>
          </p:nvPr>
        </p:nvSpPr>
        <p:spPr>
          <a:xfrm>
            <a:off x="731520" y="4561185"/>
            <a:ext cx="5852160" cy="4320233"/>
          </a:xfrm>
          <a:prstGeom prst="rect">
            <a:avLst/>
          </a:prstGeom>
        </p:spPr>
        <p:txBody>
          <a:bodyPr vert="horz" lIns="94759" tIns="47380" rIns="94759" bIns="4738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a:xfrm>
            <a:off x="0" y="9119298"/>
            <a:ext cx="3170491" cy="480367"/>
          </a:xfrm>
          <a:prstGeom prst="rect">
            <a:avLst/>
          </a:prstGeom>
        </p:spPr>
        <p:txBody>
          <a:bodyPr vert="horz" lIns="94759" tIns="47380" rIns="94759" bIns="47380" rtlCol="0" anchor="b"/>
          <a:lstStyle>
            <a:lvl1pPr algn="l">
              <a:defRPr sz="1200">
                <a:ea typeface="ヒラギノ角ゴ ProN W3" charset="0"/>
                <a:cs typeface="ヒラギノ角ゴ ProN W3" charset="0"/>
              </a:defRPr>
            </a:lvl1pPr>
          </a:lstStyle>
          <a:p>
            <a:pPr>
              <a:defRPr/>
            </a:pPr>
            <a:endParaRPr lang="nl-NL"/>
          </a:p>
        </p:txBody>
      </p:sp>
      <p:sp>
        <p:nvSpPr>
          <p:cNvPr id="7" name="Slide Number Placeholder 6"/>
          <p:cNvSpPr>
            <a:spLocks noGrp="1"/>
          </p:cNvSpPr>
          <p:nvPr>
            <p:ph type="sldNum" sz="quarter" idx="5"/>
          </p:nvPr>
        </p:nvSpPr>
        <p:spPr>
          <a:xfrm>
            <a:off x="4143001" y="9119298"/>
            <a:ext cx="3170491" cy="480367"/>
          </a:xfrm>
          <a:prstGeom prst="rect">
            <a:avLst/>
          </a:prstGeom>
        </p:spPr>
        <p:txBody>
          <a:bodyPr vert="horz" wrap="square" lIns="94759" tIns="47380" rIns="94759" bIns="47380" numCol="1" anchor="b" anchorCtr="0" compatLnSpc="1">
            <a:prstTxWarp prst="textNoShape">
              <a:avLst/>
            </a:prstTxWarp>
          </a:bodyPr>
          <a:lstStyle>
            <a:lvl1pPr algn="r">
              <a:defRPr sz="1200"/>
            </a:lvl1pPr>
          </a:lstStyle>
          <a:p>
            <a:pPr>
              <a:defRPr/>
            </a:pPr>
            <a:fld id="{7916433F-3131-444C-936B-12663430D475}" type="slidenum">
              <a:rPr lang="nl-NL" altLang="nl-NL"/>
              <a:pPr>
                <a:defRPr/>
              </a:pPr>
              <a:t>‹#›</a:t>
            </a:fld>
            <a:endParaRPr lang="nl-NL" altLang="nl-NL"/>
          </a:p>
        </p:txBody>
      </p:sp>
    </p:spTree>
    <p:extLst>
      <p:ext uri="{BB962C8B-B14F-4D97-AF65-F5344CB8AC3E}">
        <p14:creationId xmlns:p14="http://schemas.microsoft.com/office/powerpoint/2010/main" val="840151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4" name="Rectangle 3"/>
          <p:cNvSpPr>
            <a:spLocks noChangeArrowheads="1"/>
          </p:cNvSpPr>
          <p:nvPr/>
        </p:nvSpPr>
        <p:spPr bwMode="auto">
          <a:xfrm>
            <a:off x="669925" y="2924175"/>
            <a:ext cx="10393363" cy="2697163"/>
          </a:xfrm>
          <a:prstGeom prst="rect">
            <a:avLst/>
          </a:prstGeom>
          <a:solidFill>
            <a:schemeClr val="tx1"/>
          </a:solidFill>
          <a:ln>
            <a:noFill/>
          </a:ln>
          <a:extLst>
            <a:ext uri="{91240B29-F687-4F45-9708-019B960494DF}">
              <a14:hiddenLine xmlns:a14="http://schemas.microsoft.com/office/drawing/2010/main" w="9525" algn="ctr">
                <a:solidFill>
                  <a:srgbClr val="000000"/>
                </a:solidFill>
                <a:round/>
                <a:headEnd/>
                <a:tailEnd/>
              </a14:hiddenLine>
            </a:ext>
          </a:extLst>
        </p:spPr>
        <p:txBody>
          <a:bodyPr lIns="130046" tIns="65023" rIns="130046" bIns="65023"/>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l">
              <a:defRPr/>
            </a:pPr>
            <a:endParaRPr lang="nl-NL" altLang="nl-NL">
              <a:latin typeface="Arial" charset="0"/>
              <a:ea typeface="ＭＳ Ｐゴシック" charset="-128"/>
            </a:endParaRPr>
          </a:p>
        </p:txBody>
      </p:sp>
      <p:sp>
        <p:nvSpPr>
          <p:cNvPr id="2" name="Titel 1"/>
          <p:cNvSpPr>
            <a:spLocks noGrp="1"/>
          </p:cNvSpPr>
          <p:nvPr>
            <p:ph type="ctrTitle"/>
          </p:nvPr>
        </p:nvSpPr>
        <p:spPr>
          <a:xfrm>
            <a:off x="975359" y="3066065"/>
            <a:ext cx="9669309" cy="919669"/>
          </a:xfrm>
        </p:spPr>
        <p:txBody>
          <a:bodyPr/>
          <a:lstStyle>
            <a:lvl1pPr>
              <a:defRPr baseline="0">
                <a:solidFill>
                  <a:schemeClr val="bg1"/>
                </a:solidFill>
              </a:defRPr>
            </a:lvl1pPr>
          </a:lstStyle>
          <a:p>
            <a:r>
              <a:rPr lang="nl-NL" dirty="0"/>
              <a:t>Click to </a:t>
            </a:r>
            <a:r>
              <a:rPr lang="nl-NL" dirty="0" err="1"/>
              <a:t>edit</a:t>
            </a:r>
            <a:r>
              <a:rPr lang="nl-NL" dirty="0"/>
              <a:t> </a:t>
            </a:r>
            <a:r>
              <a:rPr lang="nl-NL" dirty="0" err="1"/>
              <a:t>Master</a:t>
            </a:r>
            <a:r>
              <a:rPr lang="nl-NL" dirty="0"/>
              <a:t> </a:t>
            </a:r>
            <a:r>
              <a:rPr lang="nl-NL" dirty="0" err="1"/>
              <a:t>title</a:t>
            </a:r>
            <a:r>
              <a:rPr lang="nl-NL" dirty="0"/>
              <a:t> </a:t>
            </a:r>
            <a:r>
              <a:rPr lang="nl-NL" dirty="0" err="1"/>
              <a:t>style</a:t>
            </a:r>
            <a:endParaRPr lang="nl-NL" dirty="0"/>
          </a:p>
        </p:txBody>
      </p:sp>
      <p:sp>
        <p:nvSpPr>
          <p:cNvPr id="3" name="Ondertitel 2"/>
          <p:cNvSpPr>
            <a:spLocks noGrp="1"/>
          </p:cNvSpPr>
          <p:nvPr>
            <p:ph type="subTitle" idx="1"/>
          </p:nvPr>
        </p:nvSpPr>
        <p:spPr>
          <a:xfrm>
            <a:off x="987400" y="4070015"/>
            <a:ext cx="9645228" cy="1444983"/>
          </a:xfrm>
        </p:spPr>
        <p:txBody>
          <a:bodyPr/>
          <a:lstStyle>
            <a:lvl1pPr marL="0" indent="0" algn="l">
              <a:buNone/>
              <a:defRPr>
                <a:solidFill>
                  <a:srgbClr val="00A6D6"/>
                </a:solidFill>
                <a:latin typeface="Bookman Old Style"/>
                <a:cs typeface="Bookman Old Style"/>
              </a:defRPr>
            </a:lvl1pPr>
            <a:lvl2pPr marL="650230" indent="0" algn="ctr">
              <a:buNone/>
              <a:defRPr/>
            </a:lvl2pPr>
            <a:lvl3pPr marL="1300460" indent="0" algn="ctr">
              <a:buNone/>
              <a:defRPr/>
            </a:lvl3pPr>
            <a:lvl4pPr marL="1950690" indent="0" algn="ctr">
              <a:buNone/>
              <a:defRPr/>
            </a:lvl4pPr>
            <a:lvl5pPr marL="2600919" indent="0" algn="ctr">
              <a:buNone/>
              <a:defRPr/>
            </a:lvl5pPr>
            <a:lvl6pPr marL="3251149" indent="0" algn="ctr">
              <a:buNone/>
              <a:defRPr/>
            </a:lvl6pPr>
            <a:lvl7pPr marL="3901379" indent="0" algn="ctr">
              <a:buNone/>
              <a:defRPr/>
            </a:lvl7pPr>
            <a:lvl8pPr marL="4551609" indent="0" algn="ctr">
              <a:buNone/>
              <a:defRPr/>
            </a:lvl8pPr>
            <a:lvl9pPr marL="5201839" indent="0" algn="ctr">
              <a:buNone/>
              <a:defRPr/>
            </a:lvl9pPr>
          </a:lstStyle>
          <a:p>
            <a:r>
              <a:rPr lang="nl-NL" dirty="0"/>
              <a:t>Click to </a:t>
            </a:r>
            <a:r>
              <a:rPr lang="nl-NL" dirty="0" err="1"/>
              <a:t>edit</a:t>
            </a:r>
            <a:r>
              <a:rPr lang="nl-NL" dirty="0"/>
              <a:t> </a:t>
            </a:r>
            <a:r>
              <a:rPr lang="nl-NL" dirty="0" err="1"/>
              <a:t>Master</a:t>
            </a:r>
            <a:r>
              <a:rPr lang="nl-NL" dirty="0"/>
              <a:t> </a:t>
            </a:r>
            <a:r>
              <a:rPr lang="nl-NL" dirty="0" err="1"/>
              <a:t>subtitle</a:t>
            </a:r>
            <a:r>
              <a:rPr lang="nl-NL" dirty="0"/>
              <a:t> </a:t>
            </a:r>
            <a:r>
              <a:rPr lang="nl-NL" dirty="0" err="1"/>
              <a:t>style</a:t>
            </a:r>
            <a:endParaRPr lang="nl-NL" dirty="0"/>
          </a:p>
        </p:txBody>
      </p:sp>
    </p:spTree>
    <p:extLst>
      <p:ext uri="{BB962C8B-B14F-4D97-AF65-F5344CB8AC3E}">
        <p14:creationId xmlns:p14="http://schemas.microsoft.com/office/powerpoint/2010/main" val="3473586252"/>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57784" y="844352"/>
            <a:ext cx="11054080" cy="2090702"/>
          </a:xfrm>
        </p:spPr>
        <p:txBody>
          <a:bodyPr/>
          <a:lstStyle>
            <a:lvl1pPr>
              <a:defRPr/>
            </a:lvl1pPr>
          </a:lstStyle>
          <a:p>
            <a:r>
              <a:rPr lang="en-US"/>
              <a:t>Click to edit Master title style</a:t>
            </a:r>
            <a:endParaRPr lang="nl-NL" dirty="0"/>
          </a:p>
        </p:txBody>
      </p:sp>
      <p:sp>
        <p:nvSpPr>
          <p:cNvPr id="3" name="Ondertitel 2"/>
          <p:cNvSpPr>
            <a:spLocks noGrp="1"/>
          </p:cNvSpPr>
          <p:nvPr>
            <p:ph type="subTitle" idx="1"/>
          </p:nvPr>
        </p:nvSpPr>
        <p:spPr>
          <a:xfrm>
            <a:off x="1950720" y="5527040"/>
            <a:ext cx="9103360" cy="2492587"/>
          </a:xfrm>
        </p:spPr>
        <p:txBody>
          <a:bodyPr/>
          <a:lstStyle>
            <a:lvl1pPr marL="0" indent="0" algn="ctr">
              <a:buNone/>
              <a:defRPr/>
            </a:lvl1pPr>
            <a:lvl2pPr marL="650230" indent="0" algn="ctr">
              <a:buNone/>
              <a:defRPr/>
            </a:lvl2pPr>
            <a:lvl3pPr marL="1300460" indent="0" algn="ctr">
              <a:buNone/>
              <a:defRPr/>
            </a:lvl3pPr>
            <a:lvl4pPr marL="1950690" indent="0" algn="ctr">
              <a:buNone/>
              <a:defRPr/>
            </a:lvl4pPr>
            <a:lvl5pPr marL="2600919" indent="0" algn="ctr">
              <a:buNone/>
              <a:defRPr/>
            </a:lvl5pPr>
            <a:lvl6pPr marL="3251149" indent="0" algn="ctr">
              <a:buNone/>
              <a:defRPr/>
            </a:lvl6pPr>
            <a:lvl7pPr marL="3901379" indent="0" algn="ctr">
              <a:buNone/>
              <a:defRPr/>
            </a:lvl7pPr>
            <a:lvl8pPr marL="4551609" indent="0" algn="ctr">
              <a:buNone/>
              <a:defRPr/>
            </a:lvl8pPr>
            <a:lvl9pPr marL="5201839" indent="0" algn="ctr">
              <a:buNone/>
              <a:defRPr/>
            </a:lvl9pPr>
          </a:lstStyle>
          <a:p>
            <a:r>
              <a:rPr lang="nl-NL"/>
              <a:t>Klik om het opmaakprofiel van de modelondertitel te bewerken</a:t>
            </a:r>
          </a:p>
        </p:txBody>
      </p:sp>
    </p:spTree>
    <p:extLst>
      <p:ext uri="{BB962C8B-B14F-4D97-AF65-F5344CB8AC3E}">
        <p14:creationId xmlns:p14="http://schemas.microsoft.com/office/powerpoint/2010/main" val="3269530551"/>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a:xfrm>
            <a:off x="1304925" y="650875"/>
            <a:ext cx="10182225" cy="985565"/>
          </a:xfrm>
        </p:spPr>
        <p:txBody>
          <a:bodyPr/>
          <a:lstStyle>
            <a:lvl1pPr>
              <a:defRPr/>
            </a:lvl1pPr>
          </a:lstStyle>
          <a:p>
            <a:r>
              <a:rPr lang="en-US"/>
              <a:t>Click to edit Master title style</a:t>
            </a:r>
            <a:endParaRPr lang="nl-NL" dirty="0"/>
          </a:p>
        </p:txBody>
      </p:sp>
      <p:sp>
        <p:nvSpPr>
          <p:cNvPr id="3" name="Tijdelijke aanduiding voor inhoud 2"/>
          <p:cNvSpPr>
            <a:spLocks noGrp="1"/>
          </p:cNvSpPr>
          <p:nvPr>
            <p:ph idx="1"/>
          </p:nvPr>
        </p:nvSpPr>
        <p:spPr>
          <a:xfrm>
            <a:off x="1316038" y="1780456"/>
            <a:ext cx="10802986" cy="6696743"/>
          </a:xfrm>
        </p:spPr>
        <p:txBody>
          <a:bodyPr/>
          <a:lstStyle>
            <a:lvl1pPr>
              <a:lnSpc>
                <a:spcPct val="100000"/>
              </a:lnSpc>
              <a:spcBef>
                <a:spcPts val="1200"/>
              </a:spcBef>
              <a:buClrTx/>
              <a:buSzPct val="100000"/>
              <a:defRPr/>
            </a:lvl1pPr>
            <a:lvl2pPr marL="819150" indent="-269875">
              <a:lnSpc>
                <a:spcPct val="100000"/>
              </a:lnSpc>
              <a:spcBef>
                <a:spcPts val="600"/>
              </a:spcBef>
              <a:buClrTx/>
              <a:buFont typeface="Tahoma" panose="020B0604030504040204" pitchFamily="34" charset="0"/>
              <a:buChar char="̶"/>
              <a:defRPr/>
            </a:lvl2pPr>
            <a:lvl3pPr>
              <a:lnSpc>
                <a:spcPct val="100000"/>
              </a:lnSpc>
              <a:spcBef>
                <a:spcPts val="600"/>
              </a:spcBef>
              <a:buClrTx/>
              <a:defRPr/>
            </a:lvl3pPr>
            <a:lvl4pPr>
              <a:lnSpc>
                <a:spcPct val="100000"/>
              </a:lnSpc>
              <a:spcBef>
                <a:spcPts val="1200"/>
              </a:spcBef>
              <a:defRPr/>
            </a:lvl4pPr>
            <a:lvl5pPr>
              <a:lnSpc>
                <a:spcPct val="100000"/>
              </a:lnSpc>
              <a:spcBef>
                <a:spcPts val="1200"/>
              </a:spcBef>
              <a:defRPr/>
            </a:lvl5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Rectangle 3">
            <a:extLst>
              <a:ext uri="{FF2B5EF4-FFF2-40B4-BE49-F238E27FC236}">
                <a16:creationId xmlns:a16="http://schemas.microsoft.com/office/drawing/2014/main" id="{87300406-C28F-4B2A-8117-ABFF9F9F1D31}"/>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p:txBody>
      </p:sp>
    </p:spTree>
    <p:extLst>
      <p:ext uri="{BB962C8B-B14F-4D97-AF65-F5344CB8AC3E}">
        <p14:creationId xmlns:p14="http://schemas.microsoft.com/office/powerpoint/2010/main" val="711569378"/>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1027290" y="6267592"/>
            <a:ext cx="11054080" cy="1937173"/>
          </a:xfrm>
        </p:spPr>
        <p:txBody>
          <a:bodyPr/>
          <a:lstStyle>
            <a:lvl1pPr algn="l">
              <a:defRPr sz="5700" b="1" cap="all"/>
            </a:lvl1pPr>
          </a:lstStyle>
          <a:p>
            <a:r>
              <a:rPr lang="nl-NL" dirty="0"/>
              <a:t>Klik om de stijl te bewerken</a:t>
            </a:r>
          </a:p>
        </p:txBody>
      </p:sp>
      <p:sp>
        <p:nvSpPr>
          <p:cNvPr id="3" name="Tijdelijke aanduiding voor tekst 2"/>
          <p:cNvSpPr>
            <a:spLocks noGrp="1"/>
          </p:cNvSpPr>
          <p:nvPr>
            <p:ph type="body" idx="1"/>
          </p:nvPr>
        </p:nvSpPr>
        <p:spPr>
          <a:xfrm>
            <a:off x="1027290" y="4133993"/>
            <a:ext cx="11054080" cy="2133599"/>
          </a:xfrm>
        </p:spPr>
        <p:txBody>
          <a:bodyPr anchor="b"/>
          <a:lstStyle>
            <a:lvl1pPr marL="0" indent="0">
              <a:buNone/>
              <a:defRPr sz="2800"/>
            </a:lvl1pPr>
            <a:lvl2pPr marL="650230" indent="0">
              <a:buNone/>
              <a:defRPr sz="2600"/>
            </a:lvl2pPr>
            <a:lvl3pPr marL="1300460" indent="0">
              <a:buNone/>
              <a:defRPr sz="2300"/>
            </a:lvl3pPr>
            <a:lvl4pPr marL="1950690" indent="0">
              <a:buNone/>
              <a:defRPr sz="2000"/>
            </a:lvl4pPr>
            <a:lvl5pPr marL="2600919" indent="0">
              <a:buNone/>
              <a:defRPr sz="2000"/>
            </a:lvl5pPr>
            <a:lvl6pPr marL="3251149" indent="0">
              <a:buNone/>
              <a:defRPr sz="2000"/>
            </a:lvl6pPr>
            <a:lvl7pPr marL="3901379" indent="0">
              <a:buNone/>
              <a:defRPr sz="2000"/>
            </a:lvl7pPr>
            <a:lvl8pPr marL="4551609" indent="0">
              <a:buNone/>
              <a:defRPr sz="2000"/>
            </a:lvl8pPr>
            <a:lvl9pPr marL="5201839" indent="0">
              <a:buNone/>
              <a:defRPr sz="2000"/>
            </a:lvl9pPr>
          </a:lstStyle>
          <a:p>
            <a:pPr lvl="0"/>
            <a:r>
              <a:rPr lang="nl-NL"/>
              <a:t>Klik om de modelstijlen te bewerken</a:t>
            </a:r>
          </a:p>
        </p:txBody>
      </p:sp>
      <p:sp>
        <p:nvSpPr>
          <p:cNvPr id="4" name="Rectangle 3">
            <a:extLst>
              <a:ext uri="{FF2B5EF4-FFF2-40B4-BE49-F238E27FC236}">
                <a16:creationId xmlns:a16="http://schemas.microsoft.com/office/drawing/2014/main" id="{BD96EBB6-1653-4F6C-A1F7-DCD2B94A6DF8}"/>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1250204808"/>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40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1316285" y="2600960"/>
            <a:ext cx="4967111" cy="4987432"/>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500144" y="2600960"/>
            <a:ext cx="4969368" cy="4987432"/>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Rectangle 4">
            <a:extLst>
              <a:ext uri="{FF2B5EF4-FFF2-40B4-BE49-F238E27FC236}">
                <a16:creationId xmlns:a16="http://schemas.microsoft.com/office/drawing/2014/main" id="{9DF24786-3AE0-47BF-BFBE-0EFF5C8A5531}"/>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04086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650240" y="390596"/>
            <a:ext cx="11704320" cy="1625600"/>
          </a:xfrm>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50240" y="2183272"/>
            <a:ext cx="5746045" cy="909884"/>
          </a:xfrm>
        </p:spPr>
        <p:txBody>
          <a:bodyPr anchor="b"/>
          <a:lstStyle>
            <a:lvl1pPr marL="0" indent="0">
              <a:buNone/>
              <a:defRPr sz="3400" b="1"/>
            </a:lvl1pPr>
            <a:lvl2pPr marL="650230" indent="0">
              <a:buNone/>
              <a:defRPr sz="2800" b="1"/>
            </a:lvl2pPr>
            <a:lvl3pPr marL="1300460" indent="0">
              <a:buNone/>
              <a:defRPr sz="2600" b="1"/>
            </a:lvl3pPr>
            <a:lvl4pPr marL="1950690" indent="0">
              <a:buNone/>
              <a:defRPr sz="2300" b="1"/>
            </a:lvl4pPr>
            <a:lvl5pPr marL="2600919" indent="0">
              <a:buNone/>
              <a:defRPr sz="2300" b="1"/>
            </a:lvl5pPr>
            <a:lvl6pPr marL="3251149" indent="0">
              <a:buNone/>
              <a:defRPr sz="2300" b="1"/>
            </a:lvl6pPr>
            <a:lvl7pPr marL="3901379" indent="0">
              <a:buNone/>
              <a:defRPr sz="2300" b="1"/>
            </a:lvl7pPr>
            <a:lvl8pPr marL="4551609" indent="0">
              <a:buNone/>
              <a:defRPr sz="2300" b="1"/>
            </a:lvl8pPr>
            <a:lvl9pPr marL="5201839" indent="0">
              <a:buNone/>
              <a:defRPr sz="2300" b="1"/>
            </a:lvl9pPr>
          </a:lstStyle>
          <a:p>
            <a:pPr lvl="0"/>
            <a:r>
              <a:rPr lang="nl-NL"/>
              <a:t>Klik om de modelstijlen te bewerken</a:t>
            </a:r>
          </a:p>
        </p:txBody>
      </p:sp>
      <p:sp>
        <p:nvSpPr>
          <p:cNvPr id="4" name="Tijdelijke aanduiding voor inhoud 3"/>
          <p:cNvSpPr>
            <a:spLocks noGrp="1"/>
          </p:cNvSpPr>
          <p:nvPr>
            <p:ph sz="half" idx="2"/>
          </p:nvPr>
        </p:nvSpPr>
        <p:spPr>
          <a:xfrm>
            <a:off x="650240" y="3093155"/>
            <a:ext cx="5746045"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606259" y="2183272"/>
            <a:ext cx="5748302" cy="909884"/>
          </a:xfrm>
        </p:spPr>
        <p:txBody>
          <a:bodyPr anchor="b"/>
          <a:lstStyle>
            <a:lvl1pPr marL="0" indent="0">
              <a:buNone/>
              <a:defRPr sz="3400" b="1"/>
            </a:lvl1pPr>
            <a:lvl2pPr marL="650230" indent="0">
              <a:buNone/>
              <a:defRPr sz="2800" b="1"/>
            </a:lvl2pPr>
            <a:lvl3pPr marL="1300460" indent="0">
              <a:buNone/>
              <a:defRPr sz="2600" b="1"/>
            </a:lvl3pPr>
            <a:lvl4pPr marL="1950690" indent="0">
              <a:buNone/>
              <a:defRPr sz="2300" b="1"/>
            </a:lvl4pPr>
            <a:lvl5pPr marL="2600919" indent="0">
              <a:buNone/>
              <a:defRPr sz="2300" b="1"/>
            </a:lvl5pPr>
            <a:lvl6pPr marL="3251149" indent="0">
              <a:buNone/>
              <a:defRPr sz="2300" b="1"/>
            </a:lvl6pPr>
            <a:lvl7pPr marL="3901379" indent="0">
              <a:buNone/>
              <a:defRPr sz="2300" b="1"/>
            </a:lvl7pPr>
            <a:lvl8pPr marL="4551609" indent="0">
              <a:buNone/>
              <a:defRPr sz="2300" b="1"/>
            </a:lvl8pPr>
            <a:lvl9pPr marL="5201839" indent="0">
              <a:buNone/>
              <a:defRPr sz="2300" b="1"/>
            </a:lvl9pPr>
          </a:lstStyle>
          <a:p>
            <a:pPr lvl="0"/>
            <a:r>
              <a:rPr lang="nl-NL"/>
              <a:t>Klik om de modelstijlen te bewerken</a:t>
            </a:r>
          </a:p>
        </p:txBody>
      </p:sp>
      <p:sp>
        <p:nvSpPr>
          <p:cNvPr id="6" name="Tijdelijke aanduiding voor inhoud 5"/>
          <p:cNvSpPr>
            <a:spLocks noGrp="1"/>
          </p:cNvSpPr>
          <p:nvPr>
            <p:ph sz="quarter" idx="4"/>
          </p:nvPr>
        </p:nvSpPr>
        <p:spPr>
          <a:xfrm>
            <a:off x="6606259" y="3093155"/>
            <a:ext cx="5748302"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7" name="Rectangle 6">
            <a:extLst>
              <a:ext uri="{FF2B5EF4-FFF2-40B4-BE49-F238E27FC236}">
                <a16:creationId xmlns:a16="http://schemas.microsoft.com/office/drawing/2014/main" id="{AC380B05-CCCF-47B7-935C-6A864ACEC94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85559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Rectangle 2">
            <a:extLst>
              <a:ext uri="{FF2B5EF4-FFF2-40B4-BE49-F238E27FC236}">
                <a16:creationId xmlns:a16="http://schemas.microsoft.com/office/drawing/2014/main" id="{EDBFCD3A-2D90-4E3B-B4AA-EE36D390606F}"/>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300742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B22D61-0884-49F1-817A-E14A68B2C22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2465784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50241" y="388338"/>
            <a:ext cx="4278490" cy="1652693"/>
          </a:xfrm>
        </p:spPr>
        <p:txBody>
          <a:bodyPr anchor="b"/>
          <a:lstStyle>
            <a:lvl1pPr algn="l">
              <a:defRPr sz="2800" b="1"/>
            </a:lvl1pPr>
          </a:lstStyle>
          <a:p>
            <a:r>
              <a:rPr lang="nl-NL"/>
              <a:t>Klik om de stijl te bewerken</a:t>
            </a:r>
          </a:p>
        </p:txBody>
      </p:sp>
      <p:sp>
        <p:nvSpPr>
          <p:cNvPr id="3" name="Tijdelijke aanduiding voor inhoud 2"/>
          <p:cNvSpPr>
            <a:spLocks noGrp="1"/>
          </p:cNvSpPr>
          <p:nvPr>
            <p:ph idx="1"/>
          </p:nvPr>
        </p:nvSpPr>
        <p:spPr>
          <a:xfrm>
            <a:off x="5084516" y="388339"/>
            <a:ext cx="7270044" cy="8324427"/>
          </a:xfrm>
        </p:spPr>
        <p:txBody>
          <a:bodyPr/>
          <a:lstStyle>
            <a:lvl1pPr>
              <a:defRPr sz="4600"/>
            </a:lvl1pPr>
            <a:lvl2pPr>
              <a:defRPr sz="4000"/>
            </a:lvl2pPr>
            <a:lvl3pPr>
              <a:defRPr sz="3400"/>
            </a:lvl3pPr>
            <a:lvl4pPr>
              <a:defRPr sz="2800"/>
            </a:lvl4pPr>
            <a:lvl5pPr>
              <a:defRPr sz="2800"/>
            </a:lvl5pPr>
            <a:lvl6pPr>
              <a:defRPr sz="2800"/>
            </a:lvl6pPr>
            <a:lvl7pPr>
              <a:defRPr sz="2800"/>
            </a:lvl7pPr>
            <a:lvl8pPr>
              <a:defRPr sz="2800"/>
            </a:lvl8pPr>
            <a:lvl9pPr>
              <a:defRPr sz="2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50241" y="2041032"/>
            <a:ext cx="4278490" cy="6671734"/>
          </a:xfrm>
        </p:spPr>
        <p:txBody>
          <a:bodyPr/>
          <a:lstStyle>
            <a:lvl1pPr marL="0" indent="0">
              <a:buNone/>
              <a:defRPr sz="2000"/>
            </a:lvl1pPr>
            <a:lvl2pPr marL="650230" indent="0">
              <a:buNone/>
              <a:defRPr sz="1700"/>
            </a:lvl2pPr>
            <a:lvl3pPr marL="1300460" indent="0">
              <a:buNone/>
              <a:defRPr sz="1400"/>
            </a:lvl3pPr>
            <a:lvl4pPr marL="1950690" indent="0">
              <a:buNone/>
              <a:defRPr sz="1300"/>
            </a:lvl4pPr>
            <a:lvl5pPr marL="2600919" indent="0">
              <a:buNone/>
              <a:defRPr sz="1300"/>
            </a:lvl5pPr>
            <a:lvl6pPr marL="3251149" indent="0">
              <a:buNone/>
              <a:defRPr sz="1300"/>
            </a:lvl6pPr>
            <a:lvl7pPr marL="3901379" indent="0">
              <a:buNone/>
              <a:defRPr sz="1300"/>
            </a:lvl7pPr>
            <a:lvl8pPr marL="4551609" indent="0">
              <a:buNone/>
              <a:defRPr sz="1300"/>
            </a:lvl8pPr>
            <a:lvl9pPr marL="5201839" indent="0">
              <a:buNone/>
              <a:defRPr sz="1300"/>
            </a:lvl9pPr>
          </a:lstStyle>
          <a:p>
            <a:pPr lvl="0"/>
            <a:r>
              <a:rPr lang="nl-NL"/>
              <a:t>Klik om de modelstijlen te bewerken</a:t>
            </a:r>
          </a:p>
        </p:txBody>
      </p:sp>
      <p:sp>
        <p:nvSpPr>
          <p:cNvPr id="5" name="Rectangle 4">
            <a:extLst>
              <a:ext uri="{FF2B5EF4-FFF2-40B4-BE49-F238E27FC236}">
                <a16:creationId xmlns:a16="http://schemas.microsoft.com/office/drawing/2014/main" id="{8568C99B-F283-4C25-A874-CF8B15A662D0}"/>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408695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549032" y="6827520"/>
            <a:ext cx="7802880" cy="806027"/>
          </a:xfrm>
        </p:spPr>
        <p:txBody>
          <a:bodyPr anchor="b"/>
          <a:lstStyle>
            <a:lvl1pPr algn="l">
              <a:defRPr sz="2800" b="1"/>
            </a:lvl1pPr>
          </a:lstStyle>
          <a:p>
            <a:r>
              <a:rPr lang="nl-NL"/>
              <a:t>Klik om de stijl te bewerken</a:t>
            </a:r>
          </a:p>
        </p:txBody>
      </p:sp>
      <p:sp>
        <p:nvSpPr>
          <p:cNvPr id="3" name="Tijdelijke aanduiding voor afbeelding 2"/>
          <p:cNvSpPr>
            <a:spLocks noGrp="1"/>
          </p:cNvSpPr>
          <p:nvPr>
            <p:ph type="pic" idx="1"/>
          </p:nvPr>
        </p:nvSpPr>
        <p:spPr>
          <a:xfrm>
            <a:off x="2549032" y="871502"/>
            <a:ext cx="7802880" cy="5852160"/>
          </a:xfrm>
        </p:spPr>
        <p:txBody>
          <a:bodyPr/>
          <a:lstStyle>
            <a:lvl1pPr marL="0" indent="0">
              <a:buNone/>
              <a:defRPr sz="4600"/>
            </a:lvl1pPr>
            <a:lvl2pPr marL="650230" indent="0">
              <a:buNone/>
              <a:defRPr sz="4000"/>
            </a:lvl2pPr>
            <a:lvl3pPr marL="1300460" indent="0">
              <a:buNone/>
              <a:defRPr sz="3400"/>
            </a:lvl3pPr>
            <a:lvl4pPr marL="1950690" indent="0">
              <a:buNone/>
              <a:defRPr sz="2800"/>
            </a:lvl4pPr>
            <a:lvl5pPr marL="2600919" indent="0">
              <a:buNone/>
              <a:defRPr sz="2800"/>
            </a:lvl5pPr>
            <a:lvl6pPr marL="3251149" indent="0">
              <a:buNone/>
              <a:defRPr sz="2800"/>
            </a:lvl6pPr>
            <a:lvl7pPr marL="3901379" indent="0">
              <a:buNone/>
              <a:defRPr sz="2800"/>
            </a:lvl7pPr>
            <a:lvl8pPr marL="4551609" indent="0">
              <a:buNone/>
              <a:defRPr sz="2800"/>
            </a:lvl8pPr>
            <a:lvl9pPr marL="5201839" indent="0">
              <a:buNone/>
              <a:defRPr sz="2800"/>
            </a:lvl9pPr>
          </a:lstStyle>
          <a:p>
            <a:pPr lvl="0"/>
            <a:endParaRPr lang="nl-NL" noProof="0"/>
          </a:p>
        </p:txBody>
      </p:sp>
      <p:sp>
        <p:nvSpPr>
          <p:cNvPr id="4" name="Tijdelijke aanduiding voor tekst 3"/>
          <p:cNvSpPr>
            <a:spLocks noGrp="1"/>
          </p:cNvSpPr>
          <p:nvPr>
            <p:ph type="body" sz="half" idx="2"/>
          </p:nvPr>
        </p:nvSpPr>
        <p:spPr>
          <a:xfrm>
            <a:off x="2549032" y="7633547"/>
            <a:ext cx="7802880" cy="1144693"/>
          </a:xfrm>
        </p:spPr>
        <p:txBody>
          <a:bodyPr/>
          <a:lstStyle>
            <a:lvl1pPr marL="0" indent="0">
              <a:buNone/>
              <a:defRPr sz="2000"/>
            </a:lvl1pPr>
            <a:lvl2pPr marL="650230" indent="0">
              <a:buNone/>
              <a:defRPr sz="1700"/>
            </a:lvl2pPr>
            <a:lvl3pPr marL="1300460" indent="0">
              <a:buNone/>
              <a:defRPr sz="1400"/>
            </a:lvl3pPr>
            <a:lvl4pPr marL="1950690" indent="0">
              <a:buNone/>
              <a:defRPr sz="1300"/>
            </a:lvl4pPr>
            <a:lvl5pPr marL="2600919" indent="0">
              <a:buNone/>
              <a:defRPr sz="1300"/>
            </a:lvl5pPr>
            <a:lvl6pPr marL="3251149" indent="0">
              <a:buNone/>
              <a:defRPr sz="1300"/>
            </a:lvl6pPr>
            <a:lvl7pPr marL="3901379" indent="0">
              <a:buNone/>
              <a:defRPr sz="1300"/>
            </a:lvl7pPr>
            <a:lvl8pPr marL="4551609" indent="0">
              <a:buNone/>
              <a:defRPr sz="1300"/>
            </a:lvl8pPr>
            <a:lvl9pPr marL="5201839" indent="0">
              <a:buNone/>
              <a:defRPr sz="1300"/>
            </a:lvl9pPr>
          </a:lstStyle>
          <a:p>
            <a:pPr lvl="0"/>
            <a:r>
              <a:rPr lang="nl-NL"/>
              <a:t>Klik om de modelstijlen te bewerken</a:t>
            </a:r>
          </a:p>
        </p:txBody>
      </p:sp>
      <p:sp>
        <p:nvSpPr>
          <p:cNvPr id="5" name="Rectangle 4">
            <a:extLst>
              <a:ext uri="{FF2B5EF4-FFF2-40B4-BE49-F238E27FC236}">
                <a16:creationId xmlns:a16="http://schemas.microsoft.com/office/drawing/2014/main" id="{EC198EF9-5377-4306-A86E-0057D137DE3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997477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Rectangle 3">
            <a:extLst>
              <a:ext uri="{FF2B5EF4-FFF2-40B4-BE49-F238E27FC236}">
                <a16:creationId xmlns:a16="http://schemas.microsoft.com/office/drawing/2014/main" id="{79FAFA08-66CB-4F7F-AE92-830A986C6CBB}"/>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611940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943058" y="650240"/>
            <a:ext cx="2544515" cy="6938152"/>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1304996" y="650240"/>
            <a:ext cx="7421316" cy="6938152"/>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Rectangle 3">
            <a:extLst>
              <a:ext uri="{FF2B5EF4-FFF2-40B4-BE49-F238E27FC236}">
                <a16:creationId xmlns:a16="http://schemas.microsoft.com/office/drawing/2014/main" id="{D8F00776-E9F3-4881-9E23-7F484CC7E1F2}"/>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425306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04996" y="650240"/>
            <a:ext cx="10182578" cy="1517227"/>
          </a:xfrm>
        </p:spPr>
        <p:txBody>
          <a:bodyPr/>
          <a:lstStyle/>
          <a:p>
            <a:r>
              <a:rPr lang="en-US"/>
              <a:t>Click to edit Master title style</a:t>
            </a:r>
          </a:p>
        </p:txBody>
      </p:sp>
      <p:sp>
        <p:nvSpPr>
          <p:cNvPr id="3" name="Content Placeholder 2"/>
          <p:cNvSpPr>
            <a:spLocks noGrp="1"/>
          </p:cNvSpPr>
          <p:nvPr>
            <p:ph sz="half" idx="1"/>
          </p:nvPr>
        </p:nvSpPr>
        <p:spPr>
          <a:xfrm>
            <a:off x="1316285" y="2600960"/>
            <a:ext cx="4967111" cy="4987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0144" y="2600960"/>
            <a:ext cx="4969368" cy="2384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00144" y="5201920"/>
            <a:ext cx="4969368" cy="2386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A816C56-E554-41D7-B0E5-1D60E9782EFF}"/>
              </a:ext>
            </a:extLst>
          </p:cNvPr>
          <p:cNvSpPr/>
          <p:nvPr userDrawn="1"/>
        </p:nvSpPr>
        <p:spPr bwMode="auto">
          <a:xfrm>
            <a:off x="2848706" y="8950325"/>
            <a:ext cx="7045571" cy="3048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charset="0"/>
                <a:ea typeface="ＭＳ Ｐゴシック" pitchFamily="1" charset="-128"/>
              </a:rPr>
              <a:t>Over-Sampled Data Converters- ET4278, 2026</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a typeface="ＭＳ Ｐゴシック" pitchFamily="1" charset="-128"/>
            </a:endParaRPr>
          </a:p>
        </p:txBody>
      </p:sp>
    </p:spTree>
    <p:extLst>
      <p:ext uri="{BB962C8B-B14F-4D97-AF65-F5344CB8AC3E}">
        <p14:creationId xmlns:p14="http://schemas.microsoft.com/office/powerpoint/2010/main" val="7235294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title"/>
          </p:nvPr>
        </p:nvSpPr>
        <p:spPr bwMode="auto">
          <a:xfrm>
            <a:off x="1304925" y="650875"/>
            <a:ext cx="10182225"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nl-NL" altLang="nl-NL"/>
              <a:t>Titel</a:t>
            </a:r>
          </a:p>
        </p:txBody>
      </p:sp>
      <p:sp>
        <p:nvSpPr>
          <p:cNvPr id="1027" name="Rectangle 11"/>
          <p:cNvSpPr>
            <a:spLocks noGrp="1" noChangeArrowheads="1"/>
          </p:cNvSpPr>
          <p:nvPr>
            <p:ph type="body" idx="1"/>
          </p:nvPr>
        </p:nvSpPr>
        <p:spPr bwMode="auto">
          <a:xfrm>
            <a:off x="1316038" y="2600325"/>
            <a:ext cx="10153650"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nl-NL" altLang="nl-NL"/>
              <a:t>Click to edit Master text styles</a:t>
            </a:r>
          </a:p>
          <a:p>
            <a:pPr lvl="1"/>
            <a:r>
              <a:rPr lang="nl-NL" altLang="nl-NL"/>
              <a:t>Second level</a:t>
            </a:r>
          </a:p>
          <a:p>
            <a:pPr lvl="2"/>
            <a:r>
              <a:rPr lang="nl-NL" altLang="nl-NL"/>
              <a:t>Third level</a:t>
            </a:r>
          </a:p>
        </p:txBody>
      </p:sp>
      <p:sp>
        <p:nvSpPr>
          <p:cNvPr id="1028" name="Rectangle 13"/>
          <p:cNvSpPr>
            <a:spLocks noChangeArrowheads="1"/>
          </p:cNvSpPr>
          <p:nvPr/>
        </p:nvSpPr>
        <p:spPr bwMode="auto">
          <a:xfrm>
            <a:off x="0" y="8721725"/>
            <a:ext cx="13004800" cy="1031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sp>
        <p:nvSpPr>
          <p:cNvPr id="1029" name="Rectangle 19"/>
          <p:cNvSpPr>
            <a:spLocks noChangeArrowheads="1"/>
          </p:cNvSpPr>
          <p:nvPr/>
        </p:nvSpPr>
        <p:spPr bwMode="auto">
          <a:xfrm>
            <a:off x="0" y="9364663"/>
            <a:ext cx="13004800" cy="388937"/>
          </a:xfrm>
          <a:prstGeom prst="rect">
            <a:avLst/>
          </a:prstGeom>
          <a:solidFill>
            <a:srgbClr val="00A6D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sp>
        <p:nvSpPr>
          <p:cNvPr id="1030" name="Line 20"/>
          <p:cNvSpPr>
            <a:spLocks noChangeShapeType="1"/>
          </p:cNvSpPr>
          <p:nvPr/>
        </p:nvSpPr>
        <p:spPr bwMode="auto">
          <a:xfrm>
            <a:off x="0" y="9645650"/>
            <a:ext cx="130048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lIns="130046" tIns="65023" rIns="130046" bIns="65023" anchor="ctr"/>
          <a:lstStyle/>
          <a:p>
            <a:endParaRPr lang="en-US"/>
          </a:p>
        </p:txBody>
      </p:sp>
      <p:sp>
        <p:nvSpPr>
          <p:cNvPr id="1031" name="Line 22"/>
          <p:cNvSpPr>
            <a:spLocks noChangeShapeType="1"/>
          </p:cNvSpPr>
          <p:nvPr/>
        </p:nvSpPr>
        <p:spPr bwMode="auto">
          <a:xfrm>
            <a:off x="0" y="8723313"/>
            <a:ext cx="13004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130046" tIns="65023" rIns="130046" bIns="65023" anchor="ctr"/>
          <a:lstStyle/>
          <a:p>
            <a:endParaRPr lang="en-US"/>
          </a:p>
        </p:txBody>
      </p:sp>
      <p:sp>
        <p:nvSpPr>
          <p:cNvPr id="1032" name="Text Box 23"/>
          <p:cNvSpPr txBox="1">
            <a:spLocks noChangeArrowheads="1"/>
          </p:cNvSpPr>
          <p:nvPr/>
        </p:nvSpPr>
        <p:spPr bwMode="auto">
          <a:xfrm>
            <a:off x="4443413" y="8886825"/>
            <a:ext cx="62849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spcBef>
                <a:spcPct val="50000"/>
              </a:spcBef>
              <a:defRPr/>
            </a:pPr>
            <a:endParaRPr lang="nl-NL" altLang="nl-NL" sz="2000">
              <a:solidFill>
                <a:schemeClr val="bg2"/>
              </a:solidFill>
              <a:ea typeface="ＭＳ Ｐゴシック" charset="-128"/>
            </a:endParaRPr>
          </a:p>
        </p:txBody>
      </p:sp>
      <p:sp>
        <p:nvSpPr>
          <p:cNvPr id="1033" name="Rectangle 20"/>
          <p:cNvSpPr>
            <a:spLocks noChangeArrowheads="1"/>
          </p:cNvSpPr>
          <p:nvPr/>
        </p:nvSpPr>
        <p:spPr bwMode="auto">
          <a:xfrm>
            <a:off x="0" y="0"/>
            <a:ext cx="668338" cy="2925763"/>
          </a:xfrm>
          <a:prstGeom prst="rect">
            <a:avLst/>
          </a:prstGeom>
          <a:solidFill>
            <a:srgbClr val="00A6D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30046" tIns="65023" rIns="130046" bIns="65023" anchor="ct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r" eaLnBrk="1" hangingPunct="1">
              <a:defRPr/>
            </a:pPr>
            <a:endParaRPr lang="nl-NL" altLang="nl-NL" sz="3100">
              <a:ea typeface="ヒラギノ角ゴ ProN W3" charset="0"/>
            </a:endParaRPr>
          </a:p>
        </p:txBody>
      </p:sp>
      <p:pic>
        <p:nvPicPr>
          <p:cNvPr id="1034" name="Picture 10" descr="logo_rgb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2800" y="8791575"/>
            <a:ext cx="12525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Rectangle 17"/>
          <p:cNvSpPr>
            <a:spLocks noChangeArrowheads="1"/>
          </p:cNvSpPr>
          <p:nvPr/>
        </p:nvSpPr>
        <p:spPr bwMode="auto">
          <a:xfrm>
            <a:off x="11001375" y="9048750"/>
            <a:ext cx="6445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4200">
                <a:solidFill>
                  <a:srgbClr val="000000"/>
                </a:solidFill>
                <a:latin typeface="Gill Sans" charset="0"/>
                <a:ea typeface="ヒラギノ角ゴ ProN W3" charset="-128"/>
                <a:sym typeface="Gill Sans" charset="0"/>
              </a:defRPr>
            </a:lvl1pPr>
            <a:lvl2pPr marL="742950" indent="-285750" eaLnBrk="0" hangingPunct="0">
              <a:defRPr sz="4200">
                <a:solidFill>
                  <a:srgbClr val="000000"/>
                </a:solidFill>
                <a:latin typeface="Gill Sans" charset="0"/>
                <a:ea typeface="ヒラギノ角ゴ ProN W3" charset="-128"/>
                <a:sym typeface="Gill Sans" charset="0"/>
              </a:defRPr>
            </a:lvl2pPr>
            <a:lvl3pPr marL="1143000" indent="-228600" eaLnBrk="0" hangingPunct="0">
              <a:defRPr sz="4200">
                <a:solidFill>
                  <a:srgbClr val="000000"/>
                </a:solidFill>
                <a:latin typeface="Gill Sans" charset="0"/>
                <a:ea typeface="ヒラギノ角ゴ ProN W3" charset="-128"/>
                <a:sym typeface="Gill Sans" charset="0"/>
              </a:defRPr>
            </a:lvl3pPr>
            <a:lvl4pPr marL="1600200" indent="-228600" eaLnBrk="0" hangingPunct="0">
              <a:defRPr sz="4200">
                <a:solidFill>
                  <a:srgbClr val="000000"/>
                </a:solidFill>
                <a:latin typeface="Gill Sans" charset="0"/>
                <a:ea typeface="ヒラギノ角ゴ ProN W3" charset="-128"/>
                <a:sym typeface="Gill Sans" charset="0"/>
              </a:defRPr>
            </a:lvl4pPr>
            <a:lvl5pPr marL="2057400" indent="-228600" eaLnBrk="0" hangingPunct="0">
              <a:defRPr sz="4200">
                <a:solidFill>
                  <a:srgbClr val="000000"/>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128"/>
                <a:sym typeface="Gill Sans" charset="0"/>
              </a:defRPr>
            </a:lvl9pPr>
          </a:lstStyle>
          <a:p>
            <a:pPr algn="r" eaLnBrk="1" hangingPunct="1">
              <a:defRPr/>
            </a:pPr>
            <a:fld id="{2C8DBFD4-2EAD-42AE-94C8-F18E390FC6B9}" type="slidenum">
              <a:rPr lang="nl-NL" altLang="nl-NL" sz="1600" smtClean="0">
                <a:solidFill>
                  <a:schemeClr val="tx1"/>
                </a:solidFill>
                <a:latin typeface="Tahoma" pitchFamily="34" charset="0"/>
                <a:ea typeface="MS PGothic" pitchFamily="34" charset="-128"/>
              </a:rPr>
              <a:pPr algn="r" eaLnBrk="1" hangingPunct="1">
                <a:defRPr/>
              </a:pPr>
              <a:t>‹#›</a:t>
            </a:fld>
            <a:endParaRPr lang="nl-NL" altLang="nl-NL" sz="1600">
              <a:solidFill>
                <a:schemeClr val="tx1"/>
              </a:solidFill>
              <a:latin typeface="Tahoma" pitchFamily="34" charset="0"/>
              <a:ea typeface="MS PGothic" pitchFamily="34" charset="-128"/>
            </a:endParaRPr>
          </a:p>
        </p:txBody>
      </p:sp>
      <p:sp>
        <p:nvSpPr>
          <p:cNvPr id="1036" name="TextBox 19"/>
          <p:cNvSpPr txBox="1">
            <a:spLocks noChangeArrowheads="1"/>
          </p:cNvSpPr>
          <p:nvPr userDrawn="1"/>
        </p:nvSpPr>
        <p:spPr bwMode="auto">
          <a:xfrm>
            <a:off x="2973388" y="8994775"/>
            <a:ext cx="6769100" cy="77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Tahoma" charset="0"/>
                <a:cs typeface="Arial" charset="0"/>
              </a:defRPr>
            </a:lvl1pPr>
            <a:lvl2pPr marL="742950" indent="-285750" eaLnBrk="0" hangingPunct="0">
              <a:defRPr sz="2400">
                <a:solidFill>
                  <a:schemeClr val="tx1"/>
                </a:solidFill>
                <a:latin typeface="Tahoma" charset="0"/>
                <a:cs typeface="Arial" charset="0"/>
              </a:defRPr>
            </a:lvl2pPr>
            <a:lvl3pPr marL="1143000" indent="-228600" eaLnBrk="0" hangingPunct="0">
              <a:defRPr sz="2400">
                <a:solidFill>
                  <a:schemeClr val="tx1"/>
                </a:solidFill>
                <a:latin typeface="Tahoma" charset="0"/>
                <a:cs typeface="Arial" charset="0"/>
              </a:defRPr>
            </a:lvl3pPr>
            <a:lvl4pPr marL="1600200" indent="-228600" eaLnBrk="0" hangingPunct="0">
              <a:defRPr sz="2400">
                <a:solidFill>
                  <a:schemeClr val="tx1"/>
                </a:solidFill>
                <a:latin typeface="Tahoma" charset="0"/>
                <a:cs typeface="Arial" charset="0"/>
              </a:defRPr>
            </a:lvl4pPr>
            <a:lvl5pPr marL="2057400" indent="-228600" eaLnBrk="0" hangingPunct="0">
              <a:defRPr sz="2400">
                <a:solidFill>
                  <a:schemeClr val="tx1"/>
                </a:solidFill>
                <a:latin typeface="Tahoma" charset="0"/>
                <a:cs typeface="Arial" charset="0"/>
              </a:defRPr>
            </a:lvl5pPr>
            <a:lvl6pPr marL="2514600" indent="-228600" algn="ctr" eaLnBrk="0" fontAlgn="base" hangingPunct="0">
              <a:spcBef>
                <a:spcPct val="0"/>
              </a:spcBef>
              <a:spcAft>
                <a:spcPct val="0"/>
              </a:spcAft>
              <a:defRPr sz="2400">
                <a:solidFill>
                  <a:schemeClr val="tx1"/>
                </a:solidFill>
                <a:latin typeface="Tahoma" charset="0"/>
                <a:cs typeface="Arial" charset="0"/>
              </a:defRPr>
            </a:lvl6pPr>
            <a:lvl7pPr marL="2971800" indent="-228600" algn="ctr" eaLnBrk="0" fontAlgn="base" hangingPunct="0">
              <a:spcBef>
                <a:spcPct val="0"/>
              </a:spcBef>
              <a:spcAft>
                <a:spcPct val="0"/>
              </a:spcAft>
              <a:defRPr sz="2400">
                <a:solidFill>
                  <a:schemeClr val="tx1"/>
                </a:solidFill>
                <a:latin typeface="Tahoma" charset="0"/>
                <a:cs typeface="Arial" charset="0"/>
              </a:defRPr>
            </a:lvl7pPr>
            <a:lvl8pPr marL="3429000" indent="-228600" algn="ctr" eaLnBrk="0" fontAlgn="base" hangingPunct="0">
              <a:spcBef>
                <a:spcPct val="0"/>
              </a:spcBef>
              <a:spcAft>
                <a:spcPct val="0"/>
              </a:spcAft>
              <a:defRPr sz="2400">
                <a:solidFill>
                  <a:schemeClr val="tx1"/>
                </a:solidFill>
                <a:latin typeface="Tahoma" charset="0"/>
                <a:cs typeface="Arial" charset="0"/>
              </a:defRPr>
            </a:lvl8pPr>
            <a:lvl9pPr marL="3886200" indent="-228600" algn="ctr" eaLnBrk="0" fontAlgn="base" hangingPunct="0">
              <a:spcBef>
                <a:spcPct val="0"/>
              </a:spcBef>
              <a:spcAft>
                <a:spcPct val="0"/>
              </a:spcAft>
              <a:defRPr sz="2400">
                <a:solidFill>
                  <a:schemeClr val="tx1"/>
                </a:solidFill>
                <a:latin typeface="Tahoma" charset="0"/>
                <a:cs typeface="Arial" charset="0"/>
              </a:defRPr>
            </a:lvl9pPr>
          </a:lstStyle>
          <a:p>
            <a:pPr algn="l" eaLnBrk="1" hangingPunct="1">
              <a:defRPr/>
            </a:pPr>
            <a:r>
              <a:rPr lang="en-US" altLang="nl-NL" sz="1400" b="1" dirty="0">
                <a:solidFill>
                  <a:srgbClr val="00A6D6"/>
                </a:solidFill>
                <a:ea typeface="ヒラギノ角ゴ ProN W3" charset="0"/>
              </a:rPr>
              <a:t>Over-sampled Data Converters – ET4278 – Final Exam – 2026</a:t>
            </a:r>
          </a:p>
          <a:p>
            <a:pPr algn="l" eaLnBrk="1" hangingPunct="1">
              <a:defRPr/>
            </a:pPr>
            <a:endParaRPr lang="en-US" altLang="nl-NL" sz="1400" b="1" dirty="0">
              <a:solidFill>
                <a:srgbClr val="00A6D6"/>
              </a:solidFill>
              <a:ea typeface="ヒラギノ角ゴ ProN W3" charset="0"/>
            </a:endParaRPr>
          </a:p>
          <a:p>
            <a:pPr algn="l" eaLnBrk="1" hangingPunct="1">
              <a:defRPr/>
            </a:pPr>
            <a:endParaRPr lang="en-US" altLang="nl-NL" sz="1400" dirty="0">
              <a:solidFill>
                <a:srgbClr val="00A6D6"/>
              </a:solidFill>
              <a:ea typeface="ヒラギノ角ゴ ProN W3" charset="0"/>
            </a:endParaRPr>
          </a:p>
        </p:txBody>
      </p:sp>
    </p:spTree>
  </p:cSld>
  <p:clrMap bg1="lt1" tx1="dk1" bg2="lt2" tx2="dk2" accent1="accent1" accent2="accent2" accent3="accent3" accent4="accent4" accent5="accent5" accent6="accent6" hlink="hlink" folHlink="folHlink"/>
  <p:sldLayoutIdLst>
    <p:sldLayoutId id="2147484106"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Lst>
  <p:hf sldNum="0" hdr="0" ftr="0"/>
  <p:txStyles>
    <p:titleStyle>
      <a:lvl1pPr marL="1217613" indent="-1217613" algn="l" rtl="0" eaLnBrk="0" fontAlgn="base" hangingPunct="0">
        <a:spcBef>
          <a:spcPct val="0"/>
        </a:spcBef>
        <a:spcAft>
          <a:spcPct val="0"/>
        </a:spcAft>
        <a:defRPr sz="4400">
          <a:solidFill>
            <a:schemeClr val="tx1"/>
          </a:solidFill>
          <a:latin typeface="+mn-lt"/>
          <a:ea typeface="MS PGothic" pitchFamily="34" charset="-128"/>
          <a:cs typeface="ＭＳ Ｐゴシック" charset="-128"/>
        </a:defRPr>
      </a:lvl1pPr>
      <a:lvl2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2pPr>
      <a:lvl3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3pPr>
      <a:lvl4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4pPr>
      <a:lvl5pPr marL="1217613" indent="-1217613" algn="l" rtl="0" eaLnBrk="0" fontAlgn="base" hangingPunct="0">
        <a:spcBef>
          <a:spcPct val="0"/>
        </a:spcBef>
        <a:spcAft>
          <a:spcPct val="0"/>
        </a:spcAft>
        <a:defRPr sz="4400">
          <a:solidFill>
            <a:schemeClr val="tx1"/>
          </a:solidFill>
          <a:latin typeface="Tahoma" pitchFamily="34" charset="0"/>
          <a:ea typeface="MS PGothic" pitchFamily="34" charset="-128"/>
          <a:cs typeface="ＭＳ Ｐゴシック" charset="-128"/>
        </a:defRPr>
      </a:lvl5pPr>
      <a:lvl6pPr marL="1869411" indent="-1219181" algn="l" rtl="0" eaLnBrk="0" fontAlgn="base" hangingPunct="0">
        <a:spcBef>
          <a:spcPct val="0"/>
        </a:spcBef>
        <a:spcAft>
          <a:spcPct val="0"/>
        </a:spcAft>
        <a:defRPr sz="4700">
          <a:solidFill>
            <a:schemeClr val="tx1"/>
          </a:solidFill>
          <a:latin typeface="Bookman Old Style" pitchFamily="18" charset="0"/>
        </a:defRPr>
      </a:lvl6pPr>
      <a:lvl7pPr marL="2519641" indent="-1219181" algn="l" rtl="0" eaLnBrk="0" fontAlgn="base" hangingPunct="0">
        <a:spcBef>
          <a:spcPct val="0"/>
        </a:spcBef>
        <a:spcAft>
          <a:spcPct val="0"/>
        </a:spcAft>
        <a:defRPr sz="4700">
          <a:solidFill>
            <a:schemeClr val="tx1"/>
          </a:solidFill>
          <a:latin typeface="Bookman Old Style" pitchFamily="18" charset="0"/>
        </a:defRPr>
      </a:lvl7pPr>
      <a:lvl8pPr marL="3169870" indent="-1219181" algn="l" rtl="0" eaLnBrk="0" fontAlgn="base" hangingPunct="0">
        <a:spcBef>
          <a:spcPct val="0"/>
        </a:spcBef>
        <a:spcAft>
          <a:spcPct val="0"/>
        </a:spcAft>
        <a:defRPr sz="4700">
          <a:solidFill>
            <a:schemeClr val="tx1"/>
          </a:solidFill>
          <a:latin typeface="Bookman Old Style" pitchFamily="18" charset="0"/>
        </a:defRPr>
      </a:lvl8pPr>
      <a:lvl9pPr marL="3820100" indent="-1219181" algn="l" rtl="0" eaLnBrk="0" fontAlgn="base" hangingPunct="0">
        <a:spcBef>
          <a:spcPct val="0"/>
        </a:spcBef>
        <a:spcAft>
          <a:spcPct val="0"/>
        </a:spcAft>
        <a:defRPr sz="4700">
          <a:solidFill>
            <a:schemeClr val="tx1"/>
          </a:solidFill>
          <a:latin typeface="Bookman Old Style" pitchFamily="18" charset="0"/>
        </a:defRPr>
      </a:lvl9pPr>
    </p:titleStyle>
    <p:bodyStyle>
      <a:lvl1pPr marL="276225" indent="-276225" algn="l" rtl="0" eaLnBrk="0" fontAlgn="base" hangingPunct="0">
        <a:lnSpc>
          <a:spcPts val="3550"/>
        </a:lnSpc>
        <a:spcBef>
          <a:spcPct val="0"/>
        </a:spcBef>
        <a:spcAft>
          <a:spcPct val="0"/>
        </a:spcAft>
        <a:buChar char="•"/>
        <a:defRPr sz="2800">
          <a:solidFill>
            <a:schemeClr val="tx1"/>
          </a:solidFill>
          <a:latin typeface="+mn-lt"/>
          <a:ea typeface="MS PGothic" pitchFamily="34" charset="-128"/>
          <a:cs typeface="ＭＳ Ｐゴシック" charset="-128"/>
        </a:defRPr>
      </a:lvl1pPr>
      <a:lvl2pPr marL="819150" indent="-269875" algn="l" rtl="0" eaLnBrk="0" fontAlgn="base" hangingPunct="0">
        <a:lnSpc>
          <a:spcPts val="3550"/>
        </a:lnSpc>
        <a:spcBef>
          <a:spcPct val="0"/>
        </a:spcBef>
        <a:spcAft>
          <a:spcPct val="0"/>
        </a:spcAft>
        <a:buFont typeface="Tahoma" pitchFamily="34" charset="0"/>
        <a:buChar char="̶"/>
        <a:defRPr sz="2400">
          <a:solidFill>
            <a:schemeClr val="tx1"/>
          </a:solidFill>
          <a:latin typeface="+mn-lt"/>
          <a:ea typeface="MS PGothic" pitchFamily="34" charset="-128"/>
        </a:defRPr>
      </a:lvl2pPr>
      <a:lvl3pPr marL="1360488" indent="-269875" algn="l" rtl="0" eaLnBrk="0" fontAlgn="base" hangingPunct="0">
        <a:lnSpc>
          <a:spcPts val="3550"/>
        </a:lnSpc>
        <a:spcBef>
          <a:spcPct val="0"/>
        </a:spcBef>
        <a:spcAft>
          <a:spcPct val="0"/>
        </a:spcAft>
        <a:buClr>
          <a:srgbClr val="00A6D6"/>
        </a:buClr>
        <a:buFont typeface="Times" pitchFamily="18" charset="0"/>
        <a:buChar char="•"/>
        <a:defRPr>
          <a:solidFill>
            <a:schemeClr val="tx1"/>
          </a:solidFill>
          <a:latin typeface="+mn-lt"/>
          <a:ea typeface="MS PGothic" pitchFamily="34" charset="-128"/>
        </a:defRPr>
      </a:lvl3pPr>
      <a:lvl4pPr marL="1901825" indent="-269875" algn="l" rtl="0" eaLnBrk="0" fontAlgn="base" hangingPunct="0">
        <a:lnSpc>
          <a:spcPts val="3550"/>
        </a:lnSpc>
        <a:spcBef>
          <a:spcPct val="0"/>
        </a:spcBef>
        <a:spcAft>
          <a:spcPct val="0"/>
        </a:spcAft>
        <a:buClr>
          <a:schemeClr val="bg2"/>
        </a:buClr>
        <a:buFont typeface="Times" pitchFamily="18" charset="0"/>
        <a:buChar char="•"/>
        <a:defRPr sz="2000">
          <a:solidFill>
            <a:schemeClr val="tx1"/>
          </a:solidFill>
          <a:latin typeface="+mn-lt"/>
          <a:ea typeface="MS PGothic" pitchFamily="34" charset="-128"/>
        </a:defRPr>
      </a:lvl4pPr>
      <a:lvl5pPr marL="2444750" indent="-269875" algn="l" rtl="0" eaLnBrk="0" fontAlgn="base" hangingPunct="0">
        <a:lnSpc>
          <a:spcPts val="3550"/>
        </a:lnSpc>
        <a:spcBef>
          <a:spcPct val="0"/>
        </a:spcBef>
        <a:spcAft>
          <a:spcPct val="0"/>
        </a:spcAft>
        <a:buClr>
          <a:schemeClr val="bg2"/>
        </a:buClr>
        <a:buFont typeface="Times" pitchFamily="18" charset="0"/>
        <a:buChar char="•"/>
        <a:defRPr sz="1700">
          <a:solidFill>
            <a:schemeClr val="tx1"/>
          </a:solidFill>
          <a:latin typeface="+mn-lt"/>
          <a:ea typeface="MS PGothic" pitchFamily="34" charset="-128"/>
        </a:defRPr>
      </a:lvl5pPr>
      <a:lvl6pPr marL="3095366"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6pPr>
      <a:lvl7pPr marL="3745596"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7pPr>
      <a:lvl8pPr marL="4395825"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8pPr>
      <a:lvl9pPr marL="5046055" indent="-270929" algn="l" rtl="0" eaLnBrk="0" fontAlgn="base" hangingPunct="0">
        <a:lnSpc>
          <a:spcPts val="3556"/>
        </a:lnSpc>
        <a:spcBef>
          <a:spcPct val="0"/>
        </a:spcBef>
        <a:spcAft>
          <a:spcPct val="0"/>
        </a:spcAft>
        <a:buClr>
          <a:schemeClr val="bg2"/>
        </a:buClr>
        <a:buFont typeface="Times" pitchFamily="18" charset="0"/>
        <a:buChar char="•"/>
        <a:defRPr sz="1700">
          <a:solidFill>
            <a:schemeClr val="tx1"/>
          </a:solidFill>
          <a:latin typeface="+mn-lt"/>
        </a:defRPr>
      </a:lvl9pPr>
    </p:bodyStyle>
    <p:otherStyle>
      <a:defPPr>
        <a:defRPr lang="nl-NL"/>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72" userDrawn="1">
          <p15:clr>
            <a:srgbClr val="F26B43"/>
          </p15:clr>
        </p15:guide>
        <p15:guide id="2" pos="40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 Id="rId3"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jpg"/><Relationship Id="rId4" Type="http://schemas.openxmlformats.org/officeDocument/2006/relationships/image" Target="../media/image3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jpg"/><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jpg"/><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CFBB-8581-4160-937E-BB216DF18A79}"/>
              </a:ext>
            </a:extLst>
          </p:cNvPr>
          <p:cNvSpPr>
            <a:spLocks noGrp="1"/>
          </p:cNvSpPr>
          <p:nvPr>
            <p:ph type="ctrTitle"/>
          </p:nvPr>
        </p:nvSpPr>
        <p:spPr/>
        <p:txBody>
          <a:bodyPr/>
          <a:lstStyle/>
          <a:p>
            <a:r>
              <a:rPr sz="2800">
                <a:solidFill>
                  <a:srgbClr val="FFFFFF"/>
                </a:solidFill>
              </a:rPr>
              <a:t>Design Techniques for Wideband Single-Bit Continuous-Time Delta-Sigma Modulators with FIR Feedback DACs</a:t>
            </a:r>
          </a:p>
        </p:txBody>
      </p:sp>
      <p:sp>
        <p:nvSpPr>
          <p:cNvPr id="3" name="Subtitle 2">
            <a:extLst>
              <a:ext uri="{FF2B5EF4-FFF2-40B4-BE49-F238E27FC236}">
                <a16:creationId xmlns:a16="http://schemas.microsoft.com/office/drawing/2014/main" id="{89578FF7-6F9F-452F-9905-2D73DD4E17E4}"/>
              </a:ext>
            </a:extLst>
          </p:cNvPr>
          <p:cNvSpPr>
            <a:spLocks noGrp="1"/>
          </p:cNvSpPr>
          <p:nvPr>
            <p:ph type="subTitle" idx="1"/>
          </p:nvPr>
        </p:nvSpPr>
        <p:spPr/>
        <p:txBody>
          <a:bodyPr wrap="square"/>
          <a:lstStyle/>
          <a:p>
            <a:pPr/>
            <a:r>
              <a:rPr sz="1800" b="0">
                <a:solidFill>
                  <a:srgbClr val="00A6D6"/>
                </a:solidFill>
              </a:rPr>
              <a:t>Shettigar &amp; Pavan, IEEE JSSC, vol. 47 no. 12, 2012</a:t>
            </a:r>
          </a:p>
          <a:p>
            <a:pPr/>
            <a:r>
              <a:rPr sz="1800" b="1">
                <a:solidFill>
                  <a:srgbClr val="00A6D6"/>
                </a:solidFill>
              </a:rPr>
              <a:t>Daniel Tyukov, 5714699 - ET4278</a:t>
            </a:r>
          </a:p>
        </p:txBody>
      </p:sp>
    </p:spTree>
    <p:extLst>
      <p:ext uri="{BB962C8B-B14F-4D97-AF65-F5344CB8AC3E}">
        <p14:creationId xmlns:p14="http://schemas.microsoft.com/office/powerpoint/2010/main" val="3131506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a:lstStyle/>
          <a:p>
            <a:r>
              <a:t>Q1. Introduction</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6126480" cy="7863840"/>
          </a:xfrm>
        </p:spPr>
        <p:txBody>
          <a:bodyPr wrap="square"/>
          <a:lstStyle/>
          <a:p>
            <a:pPr/>
            <a:r>
              <a:rPr sz="1600" b="1">
                <a:solidFill>
                  <a:srgbClr val="000000"/>
                </a:solidFill>
              </a:rPr>
              <a:t>Issues addressed by the paper</a:t>
            </a:r>
          </a:p>
          <a:p>
            <a:pPr lvl="1"/>
            <a:r>
              <a:rPr sz="1300" b="0">
                <a:solidFill>
                  <a:srgbClr val="000000"/>
                </a:solidFill>
              </a:rPr>
              <a:t>Single-bit NRZ feedback: full-scale steps every cycle -&gt; high clock-jitter sensitivity</a:t>
            </a:r>
          </a:p>
          <a:p>
            <a:pPr lvl="1"/>
            <a:r>
              <a:rPr sz="1300" b="0">
                <a:solidFill>
                  <a:srgbClr val="000000"/>
                </a:solidFill>
              </a:rPr>
              <a:t>Comparator metastability adds data-dependent jitter -&gt; in-band SNR collapses</a:t>
            </a:r>
          </a:p>
          <a:p>
            <a:pPr lvl="1"/>
            <a:r>
              <a:rPr sz="1300" b="0">
                <a:solidFill>
                  <a:srgbClr val="000000"/>
                </a:solidFill>
              </a:rPr>
              <a:t>Full-scale single-bit feedback demands a very linear loop filter</a:t>
            </a:r>
          </a:p>
          <a:p>
            <a:pPr lvl="1"/>
            <a:r>
              <a:rPr sz="1300" b="0">
                <a:solidFill>
                  <a:srgbClr val="000000"/>
                </a:solidFill>
              </a:rPr>
              <a:t>Multi-bit avoids these but costs quantizer power/area + DAC mismatch -&gt; DEM/calibration</a:t>
            </a:r>
          </a:p>
          <a:p>
            <a:pPr lvl="1"/>
            <a:r>
              <a:rPr sz="1300" b="0">
                <a:solidFill>
                  <a:srgbClr val="000000"/>
                </a:solidFill>
              </a:rPr>
              <a:t>An FIR feedback DAC adds group delay (excess loop delay) that destabilises the loop</a:t>
            </a:r>
          </a:p>
          <a:p>
            <a:pPr/>
            <a:r>
              <a:rPr sz="1500" b="1">
                <a:solidFill>
                  <a:srgbClr val="000000"/>
                </a:solidFill>
              </a:rPr>
              <a:t>Main techniques</a:t>
            </a:r>
          </a:p>
          <a:p>
            <a:pPr lvl="1"/>
            <a:r>
              <a:rPr sz="1300" b="0">
                <a:solidFill>
                  <a:srgbClr val="000000"/>
                </a:solidFill>
              </a:rPr>
              <a:t>1-bit ADC + 8-tap semi-digital FIR feedback DAC (multi-bit-like waveform, 2-level linear, no DEM)</a:t>
            </a:r>
          </a:p>
          <a:p>
            <a:pPr lvl="1"/>
            <a:r>
              <a:rPr sz="1300" b="0">
                <a:solidFill>
                  <a:srgbClr val="000000"/>
                </a:solidFill>
              </a:rPr>
              <a:t>First FIR tap = 0 (explicit 1-cycle delay) to dodge metastability</a:t>
            </a:r>
          </a:p>
          <a:p>
            <a:pPr lvl="1"/>
            <a:r>
              <a:rPr sz="1300" b="0">
                <a:solidFill>
                  <a:srgbClr val="000000"/>
                </a:solidFill>
              </a:rPr>
              <a:t>Analog FIR-delay compensation: E(z) FIR DAC + bandpass H1(s) restores the target NTF</a:t>
            </a:r>
          </a:p>
          <a:p>
            <a:pPr lvl="1"/>
            <a:r>
              <a:rPr sz="1300" b="0">
                <a:solidFill>
                  <a:srgbClr val="000000"/>
                </a:solidFill>
              </a:rPr>
              <a:t>RZ DAC0 for ELD compensation (no summer around the quantizer)</a:t>
            </a:r>
          </a:p>
          <a:p>
            <a:pPr lvl="1"/>
            <a:r>
              <a:rPr sz="1300" b="0">
                <a:solidFill>
                  <a:srgbClr val="000000"/>
                </a:solidFill>
              </a:rPr>
              <a:t>Modified CIFB + input feed-forward, active-RC integrators, assisted opamp</a:t>
            </a:r>
          </a:p>
          <a:p>
            <a:pPr/>
            <a:r>
              <a:rPr sz="1300" b="1">
                <a:solidFill>
                  <a:srgbClr val="000000"/>
                </a:solidFill>
              </a:rPr>
              <a:t>Conclusion: FIR feedback gives a 1-bit loop the jitter/linearity of a multi-bit loop; the price is loop delay, solved by an analog compensation path.</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Q1. Identify the issues addressed by the assigned paper and identify the main techniques used to address these issues. </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(5 points)</a:t>
            </a:r>
            <a:endParaRPr lang="en-US" dirty="0"/>
          </a:p>
        </p:txBody>
      </p:sp>
      <p:pic>
        <p:nvPicPr>
          <p:cNvPr id="18" name="Picture 17" descr="fig01_singlebit_ctdsm_firdac_waveforms_histogram.png"/>
          <p:cNvPicPr>
            <a:picLocks noChangeAspect="1"/>
          </p:cNvPicPr>
          <p:nvPr/>
        </p:nvPicPr>
        <p:blipFill>
          <a:blip r:embed="rId2"/>
          <a:stretch>
            <a:fillRect/>
          </a:stretch>
        </p:blipFill>
        <p:spPr>
          <a:xfrm>
            <a:off x="8927262" y="1554480"/>
            <a:ext cx="1530755" cy="3200400"/>
          </a:xfrm>
          <a:prstGeom prst="rect">
            <a:avLst/>
          </a:prstGeom>
        </p:spPr>
      </p:pic>
      <p:pic>
        <p:nvPicPr>
          <p:cNvPr id="19" name="Picture 18" descr="fig07_compensated_modulator_architecture.jpg"/>
          <p:cNvPicPr>
            <a:picLocks noChangeAspect="1"/>
          </p:cNvPicPr>
          <p:nvPr/>
        </p:nvPicPr>
        <p:blipFill>
          <a:blip r:embed="rId3"/>
          <a:stretch>
            <a:fillRect/>
          </a:stretch>
        </p:blipFill>
        <p:spPr>
          <a:xfrm>
            <a:off x="6675120" y="5758109"/>
            <a:ext cx="6035039" cy="2199782"/>
          </a:xfrm>
          <a:prstGeom prst="rect">
            <a:avLst/>
          </a:prstGeom>
        </p:spPr>
      </p:pic>
    </p:spTree>
    <p:extLst>
      <p:ext uri="{BB962C8B-B14F-4D97-AF65-F5344CB8AC3E}">
        <p14:creationId xmlns:p14="http://schemas.microsoft.com/office/powerpoint/2010/main" val="1674637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a:lstStyle/>
          <a:p>
            <a:r>
              <a:t>Q2. Model and coefficients</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6126480" cy="7863840"/>
          </a:xfrm>
        </p:spPr>
        <p:txBody>
          <a:bodyPr wrap="square"/>
          <a:lstStyle/>
          <a:p>
            <a:pPr/>
            <a:r>
              <a:rPr sz="1600" b="1">
                <a:solidFill>
                  <a:srgbClr val="000000"/>
                </a:solidFill>
              </a:rPr>
              <a:t>Coefficients</a:t>
            </a:r>
          </a:p>
          <a:p>
            <a:pPr lvl="1"/>
            <a:r>
              <a:rPr sz="1300" b="0">
                <a:solidFill>
                  <a:srgbClr val="000000"/>
                </a:solidFill>
              </a:rPr>
              <a:t>F(z) main FIR, 8 taps: [0.07 0.12 0.15 0.16 0.16 0.15 0.12 0.07], sum = 1</a:t>
            </a:r>
          </a:p>
          <a:p>
            <a:pPr lvl="1"/>
            <a:r>
              <a:rPr sz="1300" b="0">
                <a:solidFill>
                  <a:srgbClr val="000000"/>
                </a:solidFill>
              </a:rPr>
              <a:t>E(z) compensation FIR, 7 taps (derived): [0.93 0.81 0.66 0.50 0.34 0.19 0.07]</a:t>
            </a:r>
          </a:p>
          <a:p>
            <a:pPr lvl="1"/>
            <a:r>
              <a:rPr sz="1300" b="0">
                <a:solidFill>
                  <a:srgbClr val="000000"/>
                </a:solidFill>
              </a:rPr>
              <a:t>CIFB feedback gains a = [0.0060 0.0457 0.1933 0.5547]</a:t>
            </a:r>
          </a:p>
          <a:p>
            <a:pPr lvl="1"/>
            <a:r>
              <a:rPr sz="1300" b="0">
                <a:solidFill>
                  <a:srgbClr val="000000"/>
                </a:solidFill>
              </a:rPr>
              <a:t>Resonator gains g1 = 8.35e-4, g2 = 3.13e-3 (NTF zeros at 0.46, 0.89 of fb)</a:t>
            </a:r>
          </a:p>
          <a:p>
            <a:pPr lvl="1"/>
            <a:r>
              <a:rPr sz="1300" b="0">
                <a:solidFill>
                  <a:srgbClr val="000000"/>
                </a:solidFill>
              </a:rPr>
              <a:t>Input feed-forward kff = 2.5 (STF peaking); H1(s) bandpass, peak ~100 MHz</a:t>
            </a:r>
          </a:p>
          <a:p>
            <a:pPr lvl="1"/>
            <a:r>
              <a:rPr sz="1300" b="0">
                <a:solidFill>
                  <a:srgbClr val="000000"/>
                </a:solidFill>
              </a:rPr>
              <a:t>fs = 3.6 GS/s, fb = 36 MHz, OSR = 50, order = 4, OBG = 1.5</a:t>
            </a:r>
          </a:p>
          <a:p>
            <a:pPr/>
            <a:r>
              <a:rPr sz="1500" b="1">
                <a:solidFill>
                  <a:srgbClr val="000000"/>
                </a:solidFill>
              </a:rPr>
              <a:t>Derivation</a:t>
            </a:r>
          </a:p>
          <a:p>
            <a:pPr lvl="1"/>
            <a:r>
              <a:rPr sz="1300" b="0">
                <a:solidFill>
                  <a:srgbClr val="000000"/>
                </a:solidFill>
              </a:rPr>
              <a:t>Synthesise 4th-order OBG-1.5 NTF (Butterworth-HP poles bisected for OBG) + 2 optimised zeros</a:t>
            </a:r>
          </a:p>
          <a:p>
            <a:pPr lvl="1"/>
            <a:r>
              <a:rPr sz="1300" b="0">
                <a:solidFill>
                  <a:srgbClr val="000000"/>
                </a:solidFill>
              </a:rPr>
              <a:t>Match the loop characteristic polynomial -&gt; CIFB coefficients a, g</a:t>
            </a:r>
          </a:p>
          <a:p>
            <a:pPr lvl="1"/>
            <a:r>
              <a:rPr sz="1300" b="0">
                <a:solidFill>
                  <a:srgbClr val="000000"/>
                </a:solidFill>
              </a:rPr>
              <a:t>F(z) from Eq.(1); E(z) = (1 - F(z))/(1 - z^-1) (DC gain 0)</a:t>
            </a:r>
          </a:p>
          <a:p>
            <a:pPr lvl="1"/>
            <a:r>
              <a:rPr sz="1300" b="0">
                <a:solidFill>
                  <a:srgbClr val="000000"/>
                </a:solidFill>
              </a:rPr>
              <a:t>Fit H1(s) to the replica path by impulse invariance</a:t>
            </a:r>
          </a:p>
          <a:p>
            <a:pPr/>
            <a:r>
              <a:rPr sz="1200" b="1">
                <a:solidFill>
                  <a:srgbClr val="000000"/>
                </a:solidFill>
              </a:rPr>
              <a:t>Conclusion: F(z) is taken from the paper; E(z), a, g and H1(s) were derived. The model reproduces the OBG-1.5 NTF (Fig 8).</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pic>
        <p:nvPicPr>
          <p:cNvPr id="18" name="Picture 17" descr="fig07_compensated_modulator_architecture.jpg"/>
          <p:cNvPicPr>
            <a:picLocks noChangeAspect="1"/>
          </p:cNvPicPr>
          <p:nvPr/>
        </p:nvPicPr>
        <p:blipFill>
          <a:blip r:embed="rId2"/>
          <a:stretch>
            <a:fillRect/>
          </a:stretch>
        </p:blipFill>
        <p:spPr>
          <a:xfrm>
            <a:off x="6675120" y="2146229"/>
            <a:ext cx="6035039" cy="2199782"/>
          </a:xfrm>
          <a:prstGeom prst="rect">
            <a:avLst/>
          </a:prstGeom>
        </p:spPr>
      </p:pic>
      <p:pic>
        <p:nvPicPr>
          <p:cNvPr id="19" name="Picture 18" descr="FIRDSM_design_comp.png"/>
          <p:cNvPicPr>
            <a:picLocks noChangeAspect="1"/>
          </p:cNvPicPr>
          <p:nvPr/>
        </p:nvPicPr>
        <p:blipFill>
          <a:blip r:embed="rId3"/>
          <a:stretch>
            <a:fillRect/>
          </a:stretch>
        </p:blipFill>
        <p:spPr>
          <a:xfrm>
            <a:off x="7018020" y="5120640"/>
            <a:ext cx="5349240" cy="3566160"/>
          </a:xfrm>
          <a:prstGeom prst="rect">
            <a:avLst/>
          </a:prstGeom>
        </p:spPr>
      </p:pic>
    </p:spTree>
    <p:extLst>
      <p:ext uri="{BB962C8B-B14F-4D97-AF65-F5344CB8AC3E}">
        <p14:creationId xmlns:p14="http://schemas.microsoft.com/office/powerpoint/2010/main" val="1841264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Q2.1 Techniques on/off</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5852160" cy="457200"/>
          </a:xfrm>
        </p:spPr>
        <p:txBody>
          <a:bodyPr wrap="square"/>
          <a:lstStyle/>
          <a:p>
            <a:pPr/>
            <a:r>
              <a:rPr sz="1300" b="0">
                <a:solidFill>
                  <a:srgbClr val="000000"/>
                </a:solidFill>
              </a:rPr>
              <a:t>Each technique enabled then disabled, quantified in-band (36 MHz):</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graphicFrame>
        <p:nvGraphicFramePr>
          <p:cNvPr id="18" name="Table 17"/>
          <p:cNvGraphicFramePr>
            <a:graphicFrameLocks noGrp="1"/>
          </p:cNvGraphicFramePr>
          <p:nvPr/>
        </p:nvGraphicFramePr>
        <p:xfrm>
          <a:off x="411480" y="2194560"/>
          <a:ext cx="5852160" cy="2743200"/>
        </p:xfrm>
        <a:graphic>
          <a:graphicData uri="http://schemas.openxmlformats.org/drawingml/2006/table">
            <a:tbl>
              <a:tblPr>
                <a:tableStyleId>{5C22544A-7EE6-4342-B048-85BDC9FD1C3A}</a:tableStyleId>
              </a:tblPr>
              <a:tblGrid>
                <a:gridCol w="2834640"/>
                <a:gridCol w="1645920"/>
                <a:gridCol w="1371600"/>
              </a:tblGrid>
              <a:tr h="548640">
                <a:tc>
                  <a:txBody>
                    <a:bodyPr/>
                    <a:lstStyle/>
                    <a:p>
                      <a:r>
                        <a:rPr sz="1100" b="1">
                          <a:solidFill>
                            <a:srgbClr val="000000"/>
                          </a:solidFill>
                        </a:rPr>
                        <a:t>Technique</a:t>
                      </a:r>
                    </a:p>
                  </a:txBody>
                  <a:tcPr anchor="t" marL="45720" marR="45720" marT="18288" marB="18288">
                    <a:solidFill>
                      <a:srgbClr val="D9D9D9"/>
                    </a:solidFill>
                  </a:tcPr>
                </a:tc>
                <a:tc>
                  <a:txBody>
                    <a:bodyPr/>
                    <a:lstStyle/>
                    <a:p>
                      <a:r>
                        <a:rPr sz="1100" b="1">
                          <a:solidFill>
                            <a:srgbClr val="000000"/>
                          </a:solidFill>
                        </a:rPr>
                        <a:t>OFF</a:t>
                      </a:r>
                    </a:p>
                  </a:txBody>
                  <a:tcPr anchor="t" marL="45720" marR="45720" marT="18288" marB="18288">
                    <a:solidFill>
                      <a:srgbClr val="D9D9D9"/>
                    </a:solidFill>
                  </a:tcPr>
                </a:tc>
                <a:tc>
                  <a:txBody>
                    <a:bodyPr/>
                    <a:lstStyle/>
                    <a:p>
                      <a:r>
                        <a:rPr sz="1100" b="1">
                          <a:solidFill>
                            <a:srgbClr val="000000"/>
                          </a:solidFill>
                        </a:rPr>
                        <a:t>ON</a:t>
                      </a:r>
                    </a:p>
                  </a:txBody>
                  <a:tcPr anchor="t" marL="45720" marR="45720" marT="18288" marB="18288">
                    <a:solidFill>
                      <a:srgbClr val="D9D9D9"/>
                    </a:solidFill>
                  </a:tcPr>
                </a:tc>
              </a:tr>
              <a:tr h="548640">
                <a:tc>
                  <a:txBody>
                    <a:bodyPr/>
                    <a:lstStyle/>
                    <a:p>
                      <a:r>
                        <a:rPr sz="1100" b="0">
                          <a:solidFill>
                            <a:srgbClr val="000000"/>
                          </a:solidFill>
                        </a:rPr>
                        <a:t>Compensation path</a:t>
                      </a:r>
                    </a:p>
                  </a:txBody>
                  <a:tcPr anchor="t" marL="45720" marR="45720" marT="18288" marB="18288">
                    <a:solidFill>
                      <a:srgbClr val="FFFFFF"/>
                    </a:solidFill>
                  </a:tcPr>
                </a:tc>
                <a:tc>
                  <a:txBody>
                    <a:bodyPr/>
                    <a:lstStyle/>
                    <a:p>
                      <a:r>
                        <a:rPr sz="1100" b="0">
                          <a:solidFill>
                            <a:srgbClr val="000000"/>
                          </a:solidFill>
                        </a:rPr>
                        <a:t>unstable (~ -45 dB)</a:t>
                      </a:r>
                    </a:p>
                  </a:txBody>
                  <a:tcPr anchor="t" marL="45720" marR="45720" marT="18288" marB="18288">
                    <a:solidFill>
                      <a:srgbClr val="FFFFFF"/>
                    </a:solidFill>
                  </a:tcPr>
                </a:tc>
                <a:tc>
                  <a:txBody>
                    <a:bodyPr/>
                    <a:lstStyle/>
                    <a:p>
                      <a:r>
                        <a:rPr sz="1100" b="0">
                          <a:solidFill>
                            <a:srgbClr val="000000"/>
                          </a:solidFill>
                        </a:rPr>
                        <a:t>~94 dB</a:t>
                      </a:r>
                    </a:p>
                  </a:txBody>
                  <a:tcPr anchor="t" marL="45720" marR="45720" marT="18288" marB="18288">
                    <a:solidFill>
                      <a:srgbClr val="FFFFFF"/>
                    </a:solidFill>
                  </a:tcPr>
                </a:tc>
              </a:tr>
              <a:tr h="548640">
                <a:tc>
                  <a:txBody>
                    <a:bodyPr/>
                    <a:lstStyle/>
                    <a:p>
                      <a:r>
                        <a:rPr sz="1100" b="0">
                          <a:solidFill>
                            <a:srgbClr val="000000"/>
                          </a:solidFill>
                        </a:rPr>
                        <a:t>First-tap = 0 (metastability)</a:t>
                      </a:r>
                    </a:p>
                  </a:txBody>
                  <a:tcPr anchor="t" marL="45720" marR="45720" marT="18288" marB="18288">
                    <a:solidFill>
                      <a:srgbClr val="FFFFFF"/>
                    </a:solidFill>
                  </a:tcPr>
                </a:tc>
                <a:tc>
                  <a:txBody>
                    <a:bodyPr/>
                    <a:lstStyle/>
                    <a:p>
                      <a:r>
                        <a:rPr sz="1100" b="0">
                          <a:solidFill>
                            <a:srgbClr val="000000"/>
                          </a:solidFill>
                        </a:rPr>
                        <a:t>~52 dB</a:t>
                      </a:r>
                    </a:p>
                  </a:txBody>
                  <a:tcPr anchor="t" marL="45720" marR="45720" marT="18288" marB="18288">
                    <a:solidFill>
                      <a:srgbClr val="FFFFFF"/>
                    </a:solidFill>
                  </a:tcPr>
                </a:tc>
                <a:tc>
                  <a:txBody>
                    <a:bodyPr/>
                    <a:lstStyle/>
                    <a:p>
                      <a:r>
                        <a:rPr sz="1100" b="0">
                          <a:solidFill>
                            <a:srgbClr val="000000"/>
                          </a:solidFill>
                        </a:rPr>
                        <a:t>~91 dB</a:t>
                      </a:r>
                    </a:p>
                  </a:txBody>
                  <a:tcPr anchor="t" marL="45720" marR="45720" marT="18288" marB="18288">
                    <a:solidFill>
                      <a:srgbClr val="FFFFFF"/>
                    </a:solidFill>
                  </a:tcPr>
                </a:tc>
              </a:tr>
              <a:tr h="548640">
                <a:tc>
                  <a:txBody>
                    <a:bodyPr/>
                    <a:lstStyle/>
                    <a:p>
                      <a:r>
                        <a:rPr sz="1100" b="0">
                          <a:solidFill>
                            <a:srgbClr val="000000"/>
                          </a:solidFill>
                        </a:rPr>
                        <a:t>FIR DAC (jitter floor)</a:t>
                      </a:r>
                    </a:p>
                  </a:txBody>
                  <a:tcPr anchor="t" marL="45720" marR="45720" marT="18288" marB="18288">
                    <a:solidFill>
                      <a:srgbClr val="FFFFFF"/>
                    </a:solidFill>
                  </a:tcPr>
                </a:tc>
                <a:tc>
                  <a:txBody>
                    <a:bodyPr/>
                    <a:lstStyle/>
                    <a:p>
                      <a:r>
                        <a:rPr sz="1100" b="0">
                          <a:solidFill>
                            <a:srgbClr val="000000"/>
                          </a:solidFill>
                        </a:rPr>
                        <a:t>plain 1-bit</a:t>
                      </a:r>
                    </a:p>
                  </a:txBody>
                  <a:tcPr anchor="t" marL="45720" marR="45720" marT="18288" marB="18288">
                    <a:solidFill>
                      <a:srgbClr val="FFFFFF"/>
                    </a:solidFill>
                  </a:tcPr>
                </a:tc>
                <a:tc>
                  <a:txBody>
                    <a:bodyPr/>
                    <a:lstStyle/>
                    <a:p>
                      <a:r>
                        <a:rPr sz="1100" b="0">
                          <a:solidFill>
                            <a:srgbClr val="000000"/>
                          </a:solidFill>
                        </a:rPr>
                        <a:t>~25 dB lower</a:t>
                      </a:r>
                    </a:p>
                  </a:txBody>
                  <a:tcPr anchor="t" marL="45720" marR="45720" marT="18288" marB="18288">
                    <a:solidFill>
                      <a:srgbClr val="FFFFFF"/>
                    </a:solidFill>
                  </a:tcPr>
                </a:tc>
              </a:tr>
              <a:tr h="548640">
                <a:tc>
                  <a:txBody>
                    <a:bodyPr/>
                    <a:lstStyle/>
                    <a:p>
                      <a:r>
                        <a:rPr sz="1100" b="0">
                          <a:solidFill>
                            <a:srgbClr val="000000"/>
                          </a:solidFill>
                        </a:rPr>
                        <a:t>Ideal SQNR (all on)</a:t>
                      </a:r>
                    </a:p>
                  </a:txBody>
                  <a:tcPr anchor="t" marL="45720" marR="45720" marT="18288" marB="18288">
                    <a:solidFill>
                      <a:srgbClr val="FFFFFF"/>
                    </a:solidFill>
                  </a:tcPr>
                </a:tc>
                <a:tc>
                  <a:txBody>
                    <a:bodyPr/>
                    <a:lstStyle/>
                    <a:p>
                      <a:r>
                        <a:rPr sz="1100" b="0">
                          <a:solidFill>
                            <a:srgbClr val="000000"/>
                          </a:solidFill>
                        </a:rPr>
                        <a:t>-</a:t>
                      </a:r>
                    </a:p>
                  </a:txBody>
                  <a:tcPr anchor="t" marL="45720" marR="45720" marT="18288" marB="18288">
                    <a:solidFill>
                      <a:srgbClr val="FFFFFF"/>
                    </a:solidFill>
                  </a:tcPr>
                </a:tc>
                <a:tc>
                  <a:txBody>
                    <a:bodyPr/>
                    <a:lstStyle/>
                    <a:p>
                      <a:r>
                        <a:rPr sz="1100" b="0">
                          <a:solidFill>
                            <a:srgbClr val="000000"/>
                          </a:solidFill>
                        </a:rPr>
                        <a:t>~94 dB</a:t>
                      </a:r>
                    </a:p>
                  </a:txBody>
                  <a:tcPr anchor="t" marL="45720" marR="45720" marT="18288" marB="18288">
                    <a:solidFill>
                      <a:srgbClr val="FFFFFF"/>
                    </a:solidFill>
                  </a:tcPr>
                </a:tc>
              </a:tr>
            </a:tbl>
          </a:graphicData>
        </a:graphic>
      </p:graphicFrame>
      <p:pic>
        <p:nvPicPr>
          <p:cNvPr id="19" name="Picture 18" descr="FIRDSM_techniques_onoff.png"/>
          <p:cNvPicPr>
            <a:picLocks noChangeAspect="1"/>
          </p:cNvPicPr>
          <p:nvPr/>
        </p:nvPicPr>
        <p:blipFill>
          <a:blip r:embed="rId2"/>
          <a:stretch>
            <a:fillRect/>
          </a:stretch>
        </p:blipFill>
        <p:spPr>
          <a:xfrm>
            <a:off x="6492240" y="2359303"/>
            <a:ext cx="6217920" cy="4059633"/>
          </a:xfrm>
          <a:prstGeom prst="rect">
            <a:avLst/>
          </a:prstGeom>
        </p:spPr>
      </p:pic>
      <p:sp>
        <p:nvSpPr>
          <p:cNvPr id="20" name="TextBox 19"/>
          <p:cNvSpPr txBox="1"/>
          <p:nvPr/>
        </p:nvSpPr>
        <p:spPr>
          <a:xfrm>
            <a:off x="411480" y="7498079"/>
            <a:ext cx="12252960" cy="914400"/>
          </a:xfrm>
          <a:prstGeom prst="rect">
            <a:avLst/>
          </a:prstGeom>
          <a:noFill/>
        </p:spPr>
        <p:txBody>
          <a:bodyPr wrap="square" anchor="t">
            <a:spAutoFit/>
          </a:bodyPr>
          <a:lstStyle/>
          <a:p>
            <a:pPr/>
            <a:r>
              <a:rPr sz="1300" b="1">
                <a:solidFill>
                  <a:srgbClr val="000000"/>
                </a:solidFill>
              </a:rPr>
              <a:t>Conclusion: compensation = stability, first-tap-zero = +39 dB (metastability), FIR DAC = ~25 dB jitter-floor reduction.</a:t>
            </a:r>
          </a:p>
        </p:txBody>
      </p:sp>
    </p:spTree>
    <p:extLst>
      <p:ext uri="{BB962C8B-B14F-4D97-AF65-F5344CB8AC3E}">
        <p14:creationId xmlns:p14="http://schemas.microsoft.com/office/powerpoint/2010/main" val="103747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Q2.2 Voltage scaling</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5852160" cy="6400800"/>
          </a:xfrm>
        </p:spPr>
        <p:txBody>
          <a:bodyPr wrap="square"/>
          <a:lstStyle/>
          <a:p>
            <a:pPr/>
            <a:r>
              <a:rPr sz="1600" b="1">
                <a:solidFill>
                  <a:srgbClr val="000000"/>
                </a:solidFill>
              </a:rPr>
              <a:t>Assumptions</a:t>
            </a:r>
          </a:p>
          <a:p>
            <a:pPr lvl="1"/>
            <a:r>
              <a:rPr sz="1300" b="0">
                <a:solidFill>
                  <a:srgbClr val="000000"/>
                </a:solidFill>
              </a:rPr>
              <a:t>Internal full scale = +-1; quantizer output in {-1, +1}</a:t>
            </a:r>
          </a:p>
          <a:p>
            <a:pPr lvl="1"/>
            <a:r>
              <a:rPr sz="1300" b="0">
                <a:solidFill>
                  <a:srgbClr val="000000"/>
                </a:solidFill>
              </a:rPr>
              <a:t>Integrator output swings scaled to stay below ~0.45 (first-order path saturates last)</a:t>
            </a:r>
          </a:p>
          <a:p>
            <a:pPr lvl="1"/>
            <a:r>
              <a:rPr sz="1300" b="0">
                <a:solidFill>
                  <a:srgbClr val="000000"/>
                </a:solidFill>
              </a:rPr>
              <a:t>States map to the 1.2 V supply / Vref when expressed in volts</a:t>
            </a:r>
          </a:p>
          <a:p>
            <a:pPr lvl="1"/>
            <a:r>
              <a:rPr sz="1300" b="0">
                <a:solidFill>
                  <a:srgbClr val="000000"/>
                </a:solidFill>
              </a:rPr>
              <a:t>Scaling redistributes gain between integrators; the loop transfer is unchanged</a:t>
            </a:r>
          </a:p>
          <a:p>
            <a:pPr/>
            <a:r>
              <a:rPr sz="1300" b="1">
                <a:solidFill>
                  <a:srgbClr val="000000"/>
                </a:solidFill>
              </a:rPr>
              <a:t>Conclusion: scaling preserves the NTF/STF (1-bit modulator) and keeps every integrator swing inside the MSA.</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pic>
        <p:nvPicPr>
          <p:cNvPr id="18" name="Picture 17" descr="FIRDSM_scaling.png"/>
          <p:cNvPicPr>
            <a:picLocks noChangeAspect="1"/>
          </p:cNvPicPr>
          <p:nvPr/>
        </p:nvPicPr>
        <p:blipFill>
          <a:blip r:embed="rId2"/>
          <a:stretch>
            <a:fillRect/>
          </a:stretch>
        </p:blipFill>
        <p:spPr>
          <a:xfrm>
            <a:off x="6492240" y="2734225"/>
            <a:ext cx="6217920" cy="4041309"/>
          </a:xfrm>
          <a:prstGeom prst="rect">
            <a:avLst/>
          </a:prstGeom>
        </p:spPr>
      </p:pic>
    </p:spTree>
    <p:extLst>
      <p:ext uri="{BB962C8B-B14F-4D97-AF65-F5344CB8AC3E}">
        <p14:creationId xmlns:p14="http://schemas.microsoft.com/office/powerpoint/2010/main" val="287820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Q2.3 Thermal noise &amp; spectrum</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5852160" cy="6400800"/>
          </a:xfrm>
        </p:spPr>
        <p:txBody>
          <a:bodyPr wrap="square"/>
          <a:lstStyle/>
          <a:p>
            <a:pPr/>
            <a:r>
              <a:rPr sz="1600" b="1">
                <a:solidFill>
                  <a:srgbClr val="000000"/>
                </a:solidFill>
              </a:rPr>
              <a:t>Thermal noise</a:t>
            </a:r>
          </a:p>
          <a:p>
            <a:pPr lvl="1"/>
            <a:r>
              <a:rPr sz="1300" b="0">
                <a:solidFill>
                  <a:srgbClr val="000000"/>
                </a:solidFill>
              </a:rPr>
              <a:t>Input-referred Gaussian noise added at the I4 summing node</a:t>
            </a:r>
          </a:p>
          <a:p>
            <a:pPr lvl="1"/>
            <a:r>
              <a:rPr sz="1300" b="0">
                <a:solidFill>
                  <a:srgbClr val="000000"/>
                </a:solidFill>
              </a:rPr>
              <a:t>sigma sized so the in-band floor gives DR ~ 83 dB at 36 MHz (matches Table I)</a:t>
            </a:r>
          </a:p>
          <a:p>
            <a:pPr lvl="1"/>
            <a:r>
              <a:rPr sz="1300" b="0">
                <a:solidFill>
                  <a:srgbClr val="000000"/>
                </a:solidFill>
              </a:rPr>
              <a:t>Noise is unshaped (flat): it sets the floor, separate from the shaped quantisation noise</a:t>
            </a:r>
          </a:p>
          <a:p>
            <a:pPr lvl="1"/>
            <a:r>
              <a:rPr sz="1300" b="0">
                <a:solidFill>
                  <a:srgbClr val="000000"/>
                </a:solidFill>
              </a:rPr>
              <a:t>Output PSD scaled in dBFS by A*N/2 so it overlays the paper</a:t>
            </a:r>
          </a:p>
          <a:p>
            <a:pPr/>
            <a:r>
              <a:rPr sz="1300" b="1">
                <a:solidFill>
                  <a:srgbClr val="000000"/>
                </a:solidFill>
              </a:rPr>
              <a:t>Conclusion: with the chosen input-referred noise the modulator reaches DR ~ 83 dB over 36 MHz.</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pic>
        <p:nvPicPr>
          <p:cNvPr id="18" name="Picture 17" descr="FIRDSM_thermal.png"/>
          <p:cNvPicPr>
            <a:picLocks noChangeAspect="1"/>
          </p:cNvPicPr>
          <p:nvPr/>
        </p:nvPicPr>
        <p:blipFill>
          <a:blip r:embed="rId2"/>
          <a:stretch>
            <a:fillRect/>
          </a:stretch>
        </p:blipFill>
        <p:spPr>
          <a:xfrm>
            <a:off x="6492240" y="2725063"/>
            <a:ext cx="6217920" cy="4059633"/>
          </a:xfrm>
          <a:prstGeom prst="rect">
            <a:avLst/>
          </a:prstGeom>
        </p:spPr>
      </p:pic>
    </p:spTree>
    <p:extLst>
      <p:ext uri="{BB962C8B-B14F-4D97-AF65-F5344CB8AC3E}">
        <p14:creationId xmlns:p14="http://schemas.microsoft.com/office/powerpoint/2010/main" val="392825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Q2.4 Decimation filter</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5852160" cy="6400800"/>
          </a:xfrm>
        </p:spPr>
        <p:txBody>
          <a:bodyPr wrap="square"/>
          <a:lstStyle/>
          <a:p>
            <a:pPr/>
            <a:r>
              <a:rPr sz="1600" b="1">
                <a:solidFill>
                  <a:srgbClr val="000000"/>
                </a:solidFill>
              </a:rPr>
              <a:t>Decimation filter</a:t>
            </a:r>
          </a:p>
          <a:p>
            <a:pPr lvl="1"/>
            <a:r>
              <a:rPr sz="1300" b="0">
                <a:solidFill>
                  <a:srgbClr val="000000"/>
                </a:solidFill>
              </a:rPr>
              <a:t>sinc^(order+1) = sinc^5 CIC, implemented as cascaded box-car averages</a:t>
            </a:r>
          </a:p>
          <a:p>
            <a:pPr lvl="1"/>
            <a:r>
              <a:rPr sz="1300" b="0">
                <a:solidFill>
                  <a:srgbClr val="000000"/>
                </a:solidFill>
              </a:rPr>
              <a:t>Decimation factor ~ OSR (50); downsample to ~Nyquist</a:t>
            </a:r>
          </a:p>
          <a:p>
            <a:pPr lvl="1"/>
            <a:r>
              <a:rPr sz="1300" b="0">
                <a:solidFill>
                  <a:srgbClr val="000000"/>
                </a:solidFill>
              </a:rPr>
              <a:t>Plot output spectrum before/after decimation + transient waveforms</a:t>
            </a:r>
          </a:p>
          <a:p>
            <a:pPr lvl="1"/>
            <a:r>
              <a:rPr sz="1300" b="0">
                <a:solidFill>
                  <a:srgbClr val="000000"/>
                </a:solidFill>
              </a:rPr>
              <a:t>(bitstream, integrator states, recovered sine)</a:t>
            </a:r>
          </a:p>
          <a:p>
            <a:pPr/>
            <a:r>
              <a:rPr sz="1300" b="1">
                <a:solidFill>
                  <a:srgbClr val="000000"/>
                </a:solidFill>
              </a:rPr>
              <a:t>Conclusion: decimation removes the out-of-band shaped noise; the in-band SNR is preserved.</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pic>
        <p:nvPicPr>
          <p:cNvPr id="18" name="Picture 17" descr="FIRDSM_decimation.png"/>
          <p:cNvPicPr>
            <a:picLocks noChangeAspect="1"/>
          </p:cNvPicPr>
          <p:nvPr/>
        </p:nvPicPr>
        <p:blipFill>
          <a:blip r:embed="rId2"/>
          <a:stretch>
            <a:fillRect/>
          </a:stretch>
        </p:blipFill>
        <p:spPr>
          <a:xfrm>
            <a:off x="6492240" y="2725063"/>
            <a:ext cx="6217920" cy="4059633"/>
          </a:xfrm>
          <a:prstGeom prst="rect">
            <a:avLst/>
          </a:prstGeom>
        </p:spPr>
      </p:pic>
    </p:spTree>
    <p:extLst>
      <p:ext uri="{BB962C8B-B14F-4D97-AF65-F5344CB8AC3E}">
        <p14:creationId xmlns:p14="http://schemas.microsoft.com/office/powerpoint/2010/main" val="312847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Q2.5 List of simulation results</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411480" y="1554480"/>
            <a:ext cx="7863840" cy="365760"/>
          </a:xfrm>
        </p:spPr>
        <p:txBody>
          <a:bodyPr wrap="square"/>
          <a:lstStyle/>
          <a:p>
            <a:pPr/>
            <a:r>
              <a:rPr sz="1200" b="0">
                <a:solidFill>
                  <a:srgbClr val="000000"/>
                </a:solidFill>
              </a:rPr>
              <a:t>Paper results and which were reproduced in MATLAB:</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graphicFrame>
        <p:nvGraphicFramePr>
          <p:cNvPr id="18" name="Table 17"/>
          <p:cNvGraphicFramePr>
            <a:graphicFrameLocks noGrp="1"/>
          </p:cNvGraphicFramePr>
          <p:nvPr/>
        </p:nvGraphicFramePr>
        <p:xfrm>
          <a:off x="411480" y="2011680"/>
          <a:ext cx="7955280" cy="6035040"/>
        </p:xfrm>
        <a:graphic>
          <a:graphicData uri="http://schemas.openxmlformats.org/drawingml/2006/table">
            <a:tbl>
              <a:tblPr>
                <a:tableStyleId>{5C22544A-7EE6-4342-B048-85BDC9FD1C3A}</a:tableStyleId>
              </a:tblPr>
              <a:tblGrid>
                <a:gridCol w="2651760"/>
                <a:gridCol w="4023360"/>
                <a:gridCol w="1280160"/>
              </a:tblGrid>
              <a:tr h="502920">
                <a:tc>
                  <a:txBody>
                    <a:bodyPr/>
                    <a:lstStyle/>
                    <a:p>
                      <a:r>
                        <a:rPr sz="1000" b="1">
                          <a:solidFill>
                            <a:srgbClr val="000000"/>
                          </a:solidFill>
                        </a:rPr>
                        <a:t>Result</a:t>
                      </a:r>
                    </a:p>
                  </a:txBody>
                  <a:tcPr anchor="t" marL="45720" marR="45720" marT="18288" marB="18288">
                    <a:solidFill>
                      <a:srgbClr val="D9D9D9"/>
                    </a:solidFill>
                  </a:tcPr>
                </a:tc>
                <a:tc>
                  <a:txBody>
                    <a:bodyPr/>
                    <a:lstStyle/>
                    <a:p>
                      <a:r>
                        <a:rPr sz="1000" b="1">
                          <a:solidFill>
                            <a:srgbClr val="000000"/>
                          </a:solidFill>
                        </a:rPr>
                        <a:t>Paper value</a:t>
                      </a:r>
                    </a:p>
                  </a:txBody>
                  <a:tcPr anchor="t" marL="45720" marR="45720" marT="18288" marB="18288">
                    <a:solidFill>
                      <a:srgbClr val="D9D9D9"/>
                    </a:solidFill>
                  </a:tcPr>
                </a:tc>
                <a:tc>
                  <a:txBody>
                    <a:bodyPr/>
                    <a:lstStyle/>
                    <a:p>
                      <a:r>
                        <a:rPr sz="1000" b="1">
                          <a:solidFill>
                            <a:srgbClr val="000000"/>
                          </a:solidFill>
                        </a:rPr>
                        <a:t>Repro</a:t>
                      </a:r>
                    </a:p>
                  </a:txBody>
                  <a:tcPr anchor="t" marL="45720" marR="45720" marT="18288" marB="18288">
                    <a:solidFill>
                      <a:srgbClr val="D9D9D9"/>
                    </a:solidFill>
                  </a:tcPr>
                </a:tc>
              </a:tr>
              <a:tr h="502920">
                <a:tc>
                  <a:txBody>
                    <a:bodyPr/>
                    <a:lstStyle/>
                    <a:p>
                      <a:r>
                        <a:rPr sz="1000" b="0">
                          <a:solidFill>
                            <a:srgbClr val="000000"/>
                          </a:solidFill>
                        </a:rPr>
                        <a:t>NTF (Fig 8)</a:t>
                      </a:r>
                    </a:p>
                  </a:txBody>
                  <a:tcPr anchor="t" marL="45720" marR="45720" marT="18288" marB="18288">
                    <a:solidFill>
                      <a:srgbClr val="FFFFFF"/>
                    </a:solidFill>
                  </a:tcPr>
                </a:tc>
                <a:tc>
                  <a:txBody>
                    <a:bodyPr/>
                    <a:lstStyle/>
                    <a:p>
                      <a:r>
                        <a:rPr sz="1000" b="0">
                          <a:solidFill>
                            <a:srgbClr val="000000"/>
                          </a:solidFill>
                        </a:rPr>
                        <a:t>4th-order, OBG 1.5, notch ~ -90 dB</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STF (Fig 9)</a:t>
                      </a:r>
                    </a:p>
                  </a:txBody>
                  <a:tcPr anchor="t" marL="45720" marR="45720" marT="18288" marB="18288">
                    <a:solidFill>
                      <a:srgbClr val="FFFFFF"/>
                    </a:solidFill>
                  </a:tcPr>
                </a:tc>
                <a:tc>
                  <a:txBody>
                    <a:bodyPr/>
                    <a:lstStyle/>
                    <a:p>
                      <a:r>
                        <a:rPr sz="1000" b="0">
                          <a:solidFill>
                            <a:srgbClr val="000000"/>
                          </a:solidFill>
                        </a:rPr>
                        <a:t>+12 dB peak ~100 MHz</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Output PSD (Fig 22)</a:t>
                      </a:r>
                    </a:p>
                  </a:txBody>
                  <a:tcPr anchor="t" marL="45720" marR="45720" marT="18288" marB="18288">
                    <a:solidFill>
                      <a:srgbClr val="FFFFFF"/>
                    </a:solidFill>
                  </a:tcPr>
                </a:tc>
                <a:tc>
                  <a:txBody>
                    <a:bodyPr/>
                    <a:lstStyle/>
                    <a:p>
                      <a:r>
                        <a:rPr sz="1000" b="0">
                          <a:solidFill>
                            <a:srgbClr val="000000"/>
                          </a:solidFill>
                        </a:rPr>
                        <a:t>SNDR 70.3, SNR 74.9, HD2 73.5 dB</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SNR/SNDR vs amp (Fig 21)</a:t>
                      </a:r>
                    </a:p>
                  </a:txBody>
                  <a:tcPr anchor="t" marL="45720" marR="45720" marT="18288" marB="18288">
                    <a:solidFill>
                      <a:srgbClr val="FFFFFF"/>
                    </a:solidFill>
                  </a:tcPr>
                </a:tc>
                <a:tc>
                  <a:txBody>
                    <a:bodyPr/>
                    <a:lstStyle/>
                    <a:p>
                      <a:r>
                        <a:rPr sz="1000" b="0">
                          <a:solidFill>
                            <a:srgbClr val="000000"/>
                          </a:solidFill>
                        </a:rPr>
                        <a:t>pk SNR 76.4, SNDR 70.9, DR 83</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Jitter PSD (Fig 2)</a:t>
                      </a:r>
                    </a:p>
                  </a:txBody>
                  <a:tcPr anchor="t" marL="45720" marR="45720" marT="18288" marB="18288">
                    <a:solidFill>
                      <a:srgbClr val="FFFFFF"/>
                    </a:solidFill>
                  </a:tcPr>
                </a:tc>
                <a:tc>
                  <a:txBody>
                    <a:bodyPr/>
                    <a:lstStyle/>
                    <a:p>
                      <a:r>
                        <a:rPr sz="1000" b="0">
                          <a:solidFill>
                            <a:srgbClr val="000000"/>
                          </a:solidFill>
                        </a:rPr>
                        <a:t>FIR ~ 4-bit, &lt;&lt; plain 1-bit</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Jitter nulls (Fig 26)</a:t>
                      </a:r>
                    </a:p>
                  </a:txBody>
                  <a:tcPr anchor="t" marL="45720" marR="45720" marT="18288" marB="18288">
                    <a:solidFill>
                      <a:srgbClr val="FFFFFF"/>
                    </a:solidFill>
                  </a:tcPr>
                </a:tc>
                <a:tc>
                  <a:txBody>
                    <a:bodyPr/>
                    <a:lstStyle/>
                    <a:p>
                      <a:r>
                        <a:rPr sz="1000" b="0">
                          <a:solidFill>
                            <a:srgbClr val="000000"/>
                          </a:solidFill>
                        </a:rPr>
                        <a:t>minima at F(z) zeros ~600/800 MHz</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Jitter tolerance (Fig 27)</a:t>
                      </a:r>
                    </a:p>
                  </a:txBody>
                  <a:tcPr anchor="t" marL="45720" marR="45720" marT="18288" marB="18288">
                    <a:solidFill>
                      <a:srgbClr val="FFFFFF"/>
                    </a:solidFill>
                  </a:tcPr>
                </a:tc>
                <a:tc>
                  <a:txBody>
                    <a:bodyPr/>
                    <a:lstStyle/>
                    <a:p>
                      <a:r>
                        <a:rPr sz="1000" b="0">
                          <a:solidFill>
                            <a:srgbClr val="000000"/>
                          </a:solidFill>
                        </a:rPr>
                        <a:t>~10x vs plain 1-bit</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Metastability (Fig 4)</a:t>
                      </a:r>
                    </a:p>
                  </a:txBody>
                  <a:tcPr anchor="t" marL="45720" marR="45720" marT="18288" marB="18288">
                    <a:solidFill>
                      <a:srgbClr val="FFFFFF"/>
                    </a:solidFill>
                  </a:tcPr>
                </a:tc>
                <a:tc>
                  <a:txBody>
                    <a:bodyPr/>
                    <a:lstStyle/>
                    <a:p>
                      <a:r>
                        <a:rPr sz="1000" b="0">
                          <a:solidFill>
                            <a:srgbClr val="000000"/>
                          </a:solidFill>
                        </a:rPr>
                        <a:t>52 -&gt; 91 dB</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Nonlinear integrator (Fig 3)</a:t>
                      </a:r>
                    </a:p>
                  </a:txBody>
                  <a:tcPr anchor="t" marL="45720" marR="45720" marT="18288" marB="18288">
                    <a:solidFill>
                      <a:srgbClr val="FFFFFF"/>
                    </a:solidFill>
                  </a:tcPr>
                </a:tc>
                <a:tc>
                  <a:txBody>
                    <a:bodyPr/>
                    <a:lstStyle/>
                    <a:p>
                      <a:r>
                        <a:rPr sz="1000" b="0">
                          <a:solidFill>
                            <a:srgbClr val="000000"/>
                          </a:solidFill>
                        </a:rPr>
                        <a:t>floor rise = 4-bit case</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ISI correction (Figs 29/30)</a:t>
                      </a:r>
                    </a:p>
                  </a:txBody>
                  <a:tcPr anchor="t" marL="45720" marR="45720" marT="18288" marB="18288">
                    <a:solidFill>
                      <a:srgbClr val="FFFFFF"/>
                    </a:solidFill>
                  </a:tcPr>
                </a:tc>
                <a:tc>
                  <a:txBody>
                    <a:bodyPr/>
                    <a:lstStyle/>
                    <a:p>
                      <a:r>
                        <a:rPr sz="1000" b="0">
                          <a:solidFill>
                            <a:srgbClr val="000000"/>
                          </a:solidFill>
                        </a:rPr>
                        <a:t>HD2 -15 dB, SNDR -&gt; 74.3</a:t>
                      </a:r>
                    </a:p>
                  </a:txBody>
                  <a:tcPr anchor="t" marL="45720" marR="45720" marT="18288" marB="18288">
                    <a:solidFill>
                      <a:srgbClr val="FFFFFF"/>
                    </a:solidFill>
                  </a:tcPr>
                </a:tc>
                <a:tc>
                  <a:txBody>
                    <a:bodyPr/>
                    <a:lstStyle/>
                    <a:p>
                      <a:r>
                        <a:rPr sz="1000" b="0">
                          <a:solidFill>
                            <a:srgbClr val="000000"/>
                          </a:solidFill>
                        </a:rPr>
                        <a:t>yes</a:t>
                      </a:r>
                    </a:p>
                  </a:txBody>
                  <a:tcPr anchor="t" marL="45720" marR="45720" marT="18288" marB="18288">
                    <a:solidFill>
                      <a:srgbClr val="FFFFFF"/>
                    </a:solidFill>
                  </a:tcPr>
                </a:tc>
              </a:tr>
              <a:tr h="502920">
                <a:tc>
                  <a:txBody>
                    <a:bodyPr/>
                    <a:lstStyle/>
                    <a:p>
                      <a:r>
                        <a:rPr sz="1000" b="0">
                          <a:solidFill>
                            <a:srgbClr val="000000"/>
                          </a:solidFill>
                        </a:rPr>
                        <a:t>Survey scatter (Figs 23/24)</a:t>
                      </a:r>
                    </a:p>
                  </a:txBody>
                  <a:tcPr anchor="t" marL="45720" marR="45720" marT="18288" marB="18288">
                    <a:solidFill>
                      <a:srgbClr val="FFFFFF"/>
                    </a:solidFill>
                  </a:tcPr>
                </a:tc>
                <a:tc>
                  <a:txBody>
                    <a:bodyPr/>
                    <a:lstStyle/>
                    <a:p>
                      <a:r>
                        <a:rPr sz="1000" b="0">
                          <a:solidFill>
                            <a:srgbClr val="000000"/>
                          </a:solidFill>
                        </a:rPr>
                        <a:t>BW/DR &amp; P/SNDR clouds</a:t>
                      </a:r>
                    </a:p>
                  </a:txBody>
                  <a:tcPr anchor="t" marL="45720" marR="45720" marT="18288" marB="18288">
                    <a:solidFill>
                      <a:srgbClr val="FFFFFF"/>
                    </a:solidFill>
                  </a:tcPr>
                </a:tc>
                <a:tc>
                  <a:txBody>
                    <a:bodyPr/>
                    <a:lstStyle/>
                    <a:p>
                      <a:r>
                        <a:rPr sz="1000" b="0">
                          <a:solidFill>
                            <a:srgbClr val="000000"/>
                          </a:solidFill>
                        </a:rPr>
                        <a:t>no (survey)</a:t>
                      </a:r>
                    </a:p>
                  </a:txBody>
                  <a:tcPr anchor="t" marL="45720" marR="45720" marT="18288" marB="18288">
                    <a:solidFill>
                      <a:srgbClr val="FFFFFF"/>
                    </a:solidFill>
                  </a:tcPr>
                </a:tc>
              </a:tr>
            </a:tbl>
          </a:graphicData>
        </a:graphic>
      </p:graphicFrame>
      <p:sp>
        <p:nvSpPr>
          <p:cNvPr id="19" name="TextBox 18"/>
          <p:cNvSpPr txBox="1"/>
          <p:nvPr/>
        </p:nvSpPr>
        <p:spPr>
          <a:xfrm>
            <a:off x="8503920" y="2011680"/>
            <a:ext cx="4114800" cy="6035040"/>
          </a:xfrm>
          <a:prstGeom prst="rect">
            <a:avLst/>
          </a:prstGeom>
          <a:noFill/>
        </p:spPr>
        <p:txBody>
          <a:bodyPr wrap="square" anchor="t">
            <a:spAutoFit/>
          </a:bodyPr>
          <a:lstStyle/>
          <a:p>
            <a:pPr/>
            <a:r>
              <a:rPr sz="1400" b="1">
                <a:solidFill>
                  <a:srgbClr val="000000"/>
                </a:solidFill>
              </a:rPr>
              <a:t>MATLAB assumptions</a:t>
            </a:r>
          </a:p>
          <a:p>
            <a:pPr lvl="1"/>
            <a:r>
              <a:rPr sz="1200" b="0">
                <a:solidFill>
                  <a:srgbClr val="000000"/>
                </a:solidFill>
              </a:rPr>
              <a:t>fs = 3.6 GS/s, OSR = 50</a:t>
            </a:r>
          </a:p>
          <a:p>
            <a:pPr lvl="1"/>
            <a:r>
              <a:rPr sz="1200" b="0">
                <a:solidFill>
                  <a:srgbClr val="000000"/>
                </a:solidFill>
              </a:rPr>
              <a:t>Nfft = 2^16</a:t>
            </a:r>
          </a:p>
          <a:p>
            <a:pPr lvl="1"/>
            <a:r>
              <a:rPr sz="1200" b="0">
                <a:solidFill>
                  <a:srgbClr val="000000"/>
                </a:solidFill>
              </a:rPr>
              <a:t>window kaiser(N, 20)</a:t>
            </a:r>
          </a:p>
          <a:p>
            <a:pPr lvl="1"/>
            <a:r>
              <a:rPr sz="1200" b="0">
                <a:solidFill>
                  <a:srgbClr val="000000"/>
                </a:solidFill>
              </a:rPr>
              <a:t>coherent input tone</a:t>
            </a:r>
          </a:p>
          <a:p>
            <a:pPr lvl="1"/>
            <a:r>
              <a:rPr sz="1200" b="0">
                <a:solidFill>
                  <a:srgbClr val="000000"/>
                </a:solidFill>
              </a:rPr>
              <a:t>ns = 20 CT sub-steps/clock</a:t>
            </a:r>
          </a:p>
          <a:p>
            <a:pPr lvl="1"/>
            <a:r>
              <a:rPr sz="1200" b="0">
                <a:solidFill>
                  <a:srgbClr val="000000"/>
                </a:solidFill>
              </a:rPr>
              <a:t>rng(1) seeded</a:t>
            </a:r>
          </a:p>
          <a:p>
            <a:pPr/>
            <a:r>
              <a:rPr sz="1100" b="1">
                <a:solidFill>
                  <a:srgbClr val="000000"/>
                </a:solidFill>
              </a:rPr>
              <a:t>Conclusion: reproduced NTF, STF, PSD, SNR/SNDR-vs-A, jitter (2/26/27), metastability (4), nonlinear integrator (3), ISI (29/30); survey scatter (23/24) not reproducible.</a:t>
            </a:r>
          </a:p>
        </p:txBody>
      </p:sp>
    </p:spTree>
    <p:extLst>
      <p:ext uri="{BB962C8B-B14F-4D97-AF65-F5344CB8AC3E}">
        <p14:creationId xmlns:p14="http://schemas.microsoft.com/office/powerpoint/2010/main" val="4191468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Q2.6A NTF</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Realised |NTF| vs f/Fs: 4th-order, OBG = 1.5, two optimised in-band notches.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FIG08</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4th-order, OBG = 1.5, two in-band notches; matches Fig 8.</a:t>
            </a:r>
          </a:p>
        </p:txBody>
      </p:sp>
      <p:pic>
        <p:nvPicPr>
          <p:cNvPr id="18" name="Picture 17" descr="fig08_realized_ntf_vs_maxflat.png"/>
          <p:cNvPicPr>
            <a:picLocks noChangeAspect="1"/>
          </p:cNvPicPr>
          <p:nvPr/>
        </p:nvPicPr>
        <p:blipFill>
          <a:blip r:embed="rId2"/>
          <a:stretch>
            <a:fillRect/>
          </a:stretch>
        </p:blipFill>
        <p:spPr>
          <a:xfrm>
            <a:off x="954758" y="3417427"/>
            <a:ext cx="4710357" cy="3611880"/>
          </a:xfrm>
          <a:prstGeom prst="rect">
            <a:avLst/>
          </a:prstGeom>
        </p:spPr>
      </p:pic>
      <p:pic>
        <p:nvPicPr>
          <p:cNvPr id="19" name="Picture 18" descr="FIRDSM_design_NTF.png"/>
          <p:cNvPicPr>
            <a:picLocks noChangeAspect="1"/>
          </p:cNvPicPr>
          <p:nvPr/>
        </p:nvPicPr>
        <p:blipFill>
          <a:blip r:embed="rId3"/>
          <a:stretch>
            <a:fillRect/>
          </a:stretch>
        </p:blipFill>
        <p:spPr>
          <a:xfrm>
            <a:off x="6985955" y="3419328"/>
            <a:ext cx="5417820" cy="3611880"/>
          </a:xfrm>
          <a:prstGeom prst="rect">
            <a:avLst/>
          </a:prstGeom>
        </p:spPr>
      </p:pic>
    </p:spTree>
    <p:extLst>
      <p:ext uri="{BB962C8B-B14F-4D97-AF65-F5344CB8AC3E}">
        <p14:creationId xmlns:p14="http://schemas.microsoft.com/office/powerpoint/2010/main" val="37259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Q3.1 Finite amplifier gain &amp; BW</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sz="1200" b="0">
                <a:solidFill>
                  <a:srgbClr val="000000"/>
                </a:solidFill>
              </a:rPr>
              <a:t>Paper: opamp DC gain ~ 55 dB, UGB ~ 2 GHz (Fig 12).</a:t>
            </a:r>
          </a:p>
          <a:p>
            <a:pPr/>
            <a:r>
              <a:rPr sz="1200" b="0">
                <a:solidFill>
                  <a:srgbClr val="000000"/>
                </a:solidFill>
              </a:rPr>
              <a:t>Model: leaky integrator (finite DC gain) + 1-pole roll-off at UGB on each integrator; swept A_dc and UGB.</a:t>
            </a:r>
          </a:p>
          <a:p>
            <a:pPr/>
            <a:r>
              <a:rPr sz="1200" b="0">
                <a:solidFill>
                  <a:srgbClr val="000000"/>
                </a:solidFill>
              </a:rPr>
              <a:t>Impact: finite gain leaks the NTF notch (in-band floor rises); finite UGB adds excess phase -&gt; NTF droop.</a:t>
            </a:r>
          </a:p>
          <a:p>
            <a:pPr/>
            <a:r>
              <a:rPr sz="1200" b="1">
                <a:solidFill>
                  <a:srgbClr val="000000"/>
                </a:solidFill>
              </a:rPr>
              <a:t>Conclusion: negligible penalty needs ~50 dB DC gain and ~2-4 GHz UGB; the paper's 55 dB / 2 GHz is sufficient.</a:t>
            </a:r>
          </a:p>
        </p:txBody>
      </p:sp>
      <p:pic>
        <p:nvPicPr>
          <p:cNvPr id="18" name="Picture 17" descr="FIRDSM_nonideal_gainbw.png"/>
          <p:cNvPicPr>
            <a:picLocks noChangeAspect="1"/>
          </p:cNvPicPr>
          <p:nvPr/>
        </p:nvPicPr>
        <p:blipFill>
          <a:blip r:embed="rId2"/>
          <a:stretch>
            <a:fillRect/>
          </a:stretch>
        </p:blipFill>
        <p:spPr>
          <a:xfrm>
            <a:off x="2323922" y="1580290"/>
            <a:ext cx="8356957" cy="5456194"/>
          </a:xfrm>
          <a:prstGeom prst="rect">
            <a:avLst/>
          </a:prstGeom>
        </p:spPr>
      </p:pic>
    </p:spTree>
    <p:extLst>
      <p:ext uri="{BB962C8B-B14F-4D97-AF65-F5344CB8AC3E}">
        <p14:creationId xmlns:p14="http://schemas.microsoft.com/office/powerpoint/2010/main" val="347149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87206"/>
          </a:xfrm>
        </p:spPr>
        <p:txBody>
          <a:bodyPr wrap="square">
            <a:noAutofit/>
          </a:bodyPr>
          <a:lstStyle/>
          <a:p>
            <a:r>
              <a:t>Q3.2 DAC mismatch</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200" b="0">
                <a:solidFill>
                  <a:srgbClr val="000000"/>
                </a:solidFill>
              </a:rPr>
              <a:t>A 2-level (1-bit) DAC has NO level mismatch -&gt; intrinsically linear.</a:t>
            </a:r>
          </a:p>
          <a:p>
            <a:pPr/>
            <a:r>
              <a:rPr sz="1200" b="0">
                <a:solidFill>
                  <a:srgbClr val="000000"/>
                </a:solidFill>
              </a:rPr>
              <a:t>The 8-tap FIR DAC has unit-element (resistor) mismatch; chose sigma ~ 0.5-1% per tap.</a:t>
            </a:r>
          </a:p>
          <a:p>
            <a:pPr/>
            <a:r>
              <a:rPr sz="1200" b="0">
                <a:solidFill>
                  <a:srgbClr val="000000"/>
                </a:solidFill>
              </a:rPr>
              <a:t>Mismatch perturbs the F(z) coefficients (a LINEAR change) -&gt; shifts the F(z) zeros / jitter nulls and the realised NTF slightly. No new harmonics.</a:t>
            </a:r>
          </a:p>
          <a:p>
            <a:pPr/>
            <a:r>
              <a:rPr sz="1200" b="1">
                <a:solidFill>
                  <a:srgbClr val="000000"/>
                </a:solidFill>
              </a:rPr>
              <a:t>Conclusion: FIR-tap mismatch moves the jitter nulls and perturbs the NTF; it does not add distortion (unlike a multi-bit DAC).</a:t>
            </a:r>
          </a:p>
        </p:txBody>
      </p:sp>
      <p:pic>
        <p:nvPicPr>
          <p:cNvPr id="18" name="Picture 17" descr="FIRDSM_nonideal_mismatch.png"/>
          <p:cNvPicPr>
            <a:picLocks noChangeAspect="1"/>
          </p:cNvPicPr>
          <p:nvPr/>
        </p:nvPicPr>
        <p:blipFill>
          <a:blip r:embed="rId2"/>
          <a:stretch>
            <a:fillRect/>
          </a:stretch>
        </p:blipFill>
        <p:spPr>
          <a:xfrm>
            <a:off x="2323922" y="1580290"/>
            <a:ext cx="8356957" cy="5456194"/>
          </a:xfrm>
          <a:prstGeom prst="rect">
            <a:avLst/>
          </a:prstGeom>
        </p:spPr>
      </p:pic>
    </p:spTree>
    <p:extLst>
      <p:ext uri="{BB962C8B-B14F-4D97-AF65-F5344CB8AC3E}">
        <p14:creationId xmlns:p14="http://schemas.microsoft.com/office/powerpoint/2010/main" val="3933904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Q3.3 Excess loop delay (ELD)</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sz="1200" b="0">
                <a:solidFill>
                  <a:srgbClr val="000000"/>
                </a:solidFill>
              </a:rPr>
              <a:t>Modelled as a fractional-Ts delay in the quantizer -&gt; DAC feedback path.</a:t>
            </a:r>
          </a:p>
          <a:p>
            <a:pPr/>
            <a:r>
              <a:rPr sz="1200" b="0">
                <a:solidFill>
                  <a:srgbClr val="000000"/>
                </a:solidFill>
              </a:rPr>
              <a:t>Impact: the NTF degrades and the loop goes unstable beyond ~0.25 Ts of excess delay.</a:t>
            </a:r>
          </a:p>
          <a:p>
            <a:pPr/>
            <a:r>
              <a:rPr sz="1200" b="0">
                <a:solidFill>
                  <a:srgbClr val="000000"/>
                </a:solidFill>
              </a:rPr>
              <a:t>RZ DAC0 (prompt fast feedback into I1) compensates the delay and restores stability.</a:t>
            </a:r>
          </a:p>
          <a:p>
            <a:pPr/>
            <a:r>
              <a:rPr sz="1200" b="1">
                <a:solidFill>
                  <a:srgbClr val="000000"/>
                </a:solidFill>
              </a:rPr>
              <a:t>Conclusion: ELD must be compensated; the RZ DAC0 path restores the NTF up to the modelled delay.</a:t>
            </a:r>
          </a:p>
        </p:txBody>
      </p:sp>
      <p:pic>
        <p:nvPicPr>
          <p:cNvPr id="18" name="Picture 17" descr="FIRDSM_nonideal_eld.png"/>
          <p:cNvPicPr>
            <a:picLocks noChangeAspect="1"/>
          </p:cNvPicPr>
          <p:nvPr/>
        </p:nvPicPr>
        <p:blipFill>
          <a:blip r:embed="rId2"/>
          <a:stretch>
            <a:fillRect/>
          </a:stretch>
        </p:blipFill>
        <p:spPr>
          <a:xfrm>
            <a:off x="2323922" y="1580290"/>
            <a:ext cx="8356957" cy="5456194"/>
          </a:xfrm>
          <a:prstGeom prst="rect">
            <a:avLst/>
          </a:prstGeom>
        </p:spPr>
      </p:pic>
    </p:spTree>
    <p:extLst>
      <p:ext uri="{BB962C8B-B14F-4D97-AF65-F5344CB8AC3E}">
        <p14:creationId xmlns:p14="http://schemas.microsoft.com/office/powerpoint/2010/main" val="127288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Q3.4 Clock jitter</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l" eaLnBrk="0" hangingPunct="0">
              <a:buFont typeface="Arial" panose="020B0604020202020204" pitchFamily="34" charset="0"/>
              <a:buChar char="•"/>
            </a:pPr>
            <a:r>
              <a:rPr sz="1200" b="0">
                <a:solidFill>
                  <a:srgbClr val="000000"/>
                </a:solidFill>
              </a:rPr>
              <a:t>Modelled white + sinusoidal-FM timing error on the clock edges; error per cycle ~ (v1[n]-v1[n-1])*dt/Ts.</a:t>
            </a:r>
          </a:p>
          <a:p>
            <a:pPr/>
            <a:r>
              <a:rPr sz="1200" b="0">
                <a:solidFill>
                  <a:srgbClr val="000000"/>
                </a:solidFill>
              </a:rPr>
              <a:t>Impact: the in-band noise floor rises with rms jitter.</a:t>
            </a:r>
          </a:p>
          <a:p>
            <a:pPr/>
            <a:r>
              <a:rPr sz="1200" b="0">
                <a:solidFill>
                  <a:srgbClr val="000000"/>
                </a:solidFill>
              </a:rPr>
              <a:t>Reduction: the FIR DAC's small steps cut the jitter error ~10x vs plain 1-bit; in-band nulls appear at the F(z) zeros.</a:t>
            </a:r>
          </a:p>
          <a:p>
            <a:pPr/>
            <a:r>
              <a:rPr sz="1200" b="1">
                <a:solidFill>
                  <a:srgbClr val="000000"/>
                </a:solidFill>
              </a:rPr>
              <a:t>Conclusion: the FIR feedback DAC reduces jitter sensitivity ~10x, to a level comparable with a 4-bit modulator.</a:t>
            </a:r>
          </a:p>
        </p:txBody>
      </p:sp>
      <p:pic>
        <p:nvPicPr>
          <p:cNvPr id="18" name="Picture 17" descr="FIRDSM_jitter_psd.png"/>
          <p:cNvPicPr>
            <a:picLocks noChangeAspect="1"/>
          </p:cNvPicPr>
          <p:nvPr/>
        </p:nvPicPr>
        <p:blipFill>
          <a:blip r:embed="rId2"/>
          <a:stretch>
            <a:fillRect/>
          </a:stretch>
        </p:blipFill>
        <p:spPr>
          <a:xfrm>
            <a:off x="2323922" y="1580290"/>
            <a:ext cx="8356957" cy="5456194"/>
          </a:xfrm>
          <a:prstGeom prst="rect">
            <a:avLst/>
          </a:prstGeom>
        </p:spPr>
      </p:pic>
    </p:spTree>
    <p:extLst>
      <p:ext uri="{BB962C8B-B14F-4D97-AF65-F5344CB8AC3E}">
        <p14:creationId xmlns:p14="http://schemas.microsoft.com/office/powerpoint/2010/main" val="2781925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Q3.5 Integrator non-linearity</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Q3. Introduce circuit non-idealities listed below in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and show how it affects the performance.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fontScale="92500" lnSpcReduction="10000"/>
          </a:bodyPr>
          <a:lstStyle/>
          <a:p>
            <a:pPr marL="342900" indent="-342900" algn="l" eaLnBrk="0" hangingPunct="0">
              <a:buFont typeface="Arial" panose="020B0604020202020204" pitchFamily="34" charset="0"/>
              <a:buChar char="•"/>
            </a:pPr>
            <a:r>
              <a:rPr sz="1200" b="0">
                <a:solidFill>
                  <a:srgbClr val="000000"/>
                </a:solidFill>
              </a:rPr>
              <a:t>Paper: weak cubic on the input integrator I4: i = Gm*vd - G3*vd^3 (Gm/G3 = 1000, '20,20'; Fig 3).</a:t>
            </a:r>
          </a:p>
          <a:p>
            <a:pPr/>
            <a:r>
              <a:rPr sz="1200" b="0">
                <a:solidFill>
                  <a:srgbClr val="000000"/>
                </a:solidFill>
              </a:rPr>
              <a:t>I4 (the input integrator) dominates because it processes the largest signal.</a:t>
            </a:r>
          </a:p>
          <a:p>
            <a:pPr/>
            <a:r>
              <a:rPr sz="1200" b="0">
                <a:solidFill>
                  <a:srgbClr val="000000"/>
                </a:solidFill>
              </a:rPr>
              <a:t>Modelled as a per-sub-step cubic term; impact: out-of-band shaped noise demodulates in-band -&gt; floor rises.</a:t>
            </a:r>
          </a:p>
          <a:p>
            <a:pPr/>
            <a:r>
              <a:rPr sz="1200" b="1">
                <a:solidFill>
                  <a:srgbClr val="000000"/>
                </a:solidFill>
              </a:rPr>
              <a:t>Conclusion: FIR feedback relaxes the I4 linearity demand; the cubic raises the in-band floor like the 4-bit case.</a:t>
            </a:r>
          </a:p>
        </p:txBody>
      </p:sp>
      <p:pic>
        <p:nvPicPr>
          <p:cNvPr id="18" name="Picture 17" descr="FIRDSM_nonlin_integrator.png"/>
          <p:cNvPicPr>
            <a:picLocks noChangeAspect="1"/>
          </p:cNvPicPr>
          <p:nvPr/>
        </p:nvPicPr>
        <p:blipFill>
          <a:blip r:embed="rId2"/>
          <a:stretch>
            <a:fillRect/>
          </a:stretch>
        </p:blipFill>
        <p:spPr>
          <a:xfrm>
            <a:off x="2323922" y="1580290"/>
            <a:ext cx="8356957" cy="5456194"/>
          </a:xfrm>
          <a:prstGeom prst="rect">
            <a:avLst/>
          </a:prstGeom>
        </p:spPr>
      </p:pic>
    </p:spTree>
    <p:extLst>
      <p:ext uri="{BB962C8B-B14F-4D97-AF65-F5344CB8AC3E}">
        <p14:creationId xmlns:p14="http://schemas.microsoft.com/office/powerpoint/2010/main" val="43648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t>Q4.1 Loop filter &amp; assisted opamp</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sz="1200" b="0">
                <a:solidFill>
                  <a:srgbClr val="000000"/>
                </a:solidFill>
              </a:rPr>
              <a:t>Four active-RC integrators (I4..I1); input/feedback resistors set the CIFB coefficients; virtual-ground current summing.</a:t>
            </a:r>
          </a:p>
          <a:p>
            <a:pPr/>
            <a:r>
              <a:rPr sz="1200" b="0">
                <a:solidFill>
                  <a:srgbClr val="000000"/>
                </a:solidFill>
              </a:rPr>
              <a:t>Assisted-opamp current DACs inject a replica of the input current at the opamp output -&gt; relaxed opamp for fast input currents.</a:t>
            </a:r>
          </a:p>
          <a:p>
            <a:pPr/>
            <a:r>
              <a:rPr sz="1200" b="0">
                <a:solidFill>
                  <a:srgbClr val="000000"/>
                </a:solidFill>
              </a:rPr>
              <a:t>Reset switches across the caps as anti-lockup; R and C are digitally trimmable banks.</a:t>
            </a:r>
          </a:p>
          <a:p>
            <a:pPr/>
            <a:r>
              <a:rPr sz="1200" b="1">
                <a:solidFill>
                  <a:srgbClr val="000000"/>
                </a:solidFill>
              </a:rPr>
              <a:t>Conclusion: active-RC loop filter with assisted opamps gives low-distortion integration with small caps and low opamp power.</a:t>
            </a:r>
          </a:p>
        </p:txBody>
      </p:sp>
      <p:pic>
        <p:nvPicPr>
          <p:cNvPr id="18" name="Picture 17" descr="fig10_single_ended_schematic.jpg"/>
          <p:cNvPicPr>
            <a:picLocks noChangeAspect="1"/>
          </p:cNvPicPr>
          <p:nvPr/>
        </p:nvPicPr>
        <p:blipFill>
          <a:blip r:embed="rId2"/>
          <a:stretch>
            <a:fillRect/>
          </a:stretch>
        </p:blipFill>
        <p:spPr>
          <a:xfrm>
            <a:off x="2323922" y="1631350"/>
            <a:ext cx="8356957" cy="5354074"/>
          </a:xfrm>
          <a:prstGeom prst="rect">
            <a:avLst/>
          </a:prstGeom>
        </p:spPr>
      </p:pic>
    </p:spTree>
    <p:extLst>
      <p:ext uri="{BB962C8B-B14F-4D97-AF65-F5344CB8AC3E}">
        <p14:creationId xmlns:p14="http://schemas.microsoft.com/office/powerpoint/2010/main" val="3070866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Q5. Strengths and weaknesses</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Q5. Identify and list their weakness and strengths of the main techniques used in the SD modulator architecture. Assess if the adopted technique solves the initial issue. (5 points)</a:t>
            </a:r>
            <a:endParaRPr lang="en-US" dirty="0"/>
          </a:p>
        </p:txBody>
      </p:sp>
      <p:graphicFrame>
        <p:nvGraphicFramePr>
          <p:cNvPr id="18" name="Table 17"/>
          <p:cNvGraphicFramePr>
            <a:graphicFrameLocks noGrp="1"/>
          </p:cNvGraphicFramePr>
          <p:nvPr/>
        </p:nvGraphicFramePr>
        <p:xfrm>
          <a:off x="365760" y="1554480"/>
          <a:ext cx="12252960" cy="6126480"/>
        </p:xfrm>
        <a:graphic>
          <a:graphicData uri="http://schemas.openxmlformats.org/drawingml/2006/table">
            <a:tbl>
              <a:tblPr>
                <a:tableStyleId>{5C22544A-7EE6-4342-B048-85BDC9FD1C3A}</a:tableStyleId>
              </a:tblPr>
              <a:tblGrid>
                <a:gridCol w="2468880"/>
                <a:gridCol w="3657600"/>
                <a:gridCol w="3291840"/>
                <a:gridCol w="2834640"/>
              </a:tblGrid>
              <a:tr h="765810">
                <a:tc>
                  <a:txBody>
                    <a:bodyPr/>
                    <a:lstStyle/>
                    <a:p>
                      <a:r>
                        <a:rPr sz="900" b="1">
                          <a:solidFill>
                            <a:srgbClr val="000000"/>
                          </a:solidFill>
                        </a:rPr>
                        <a:t>Technique</a:t>
                      </a:r>
                    </a:p>
                  </a:txBody>
                  <a:tcPr anchor="t" marL="45720" marR="45720" marT="18288" marB="18288">
                    <a:solidFill>
                      <a:srgbClr val="D9D9D9"/>
                    </a:solidFill>
                  </a:tcPr>
                </a:tc>
                <a:tc>
                  <a:txBody>
                    <a:bodyPr/>
                    <a:lstStyle/>
                    <a:p>
                      <a:r>
                        <a:rPr sz="900" b="1">
                          <a:solidFill>
                            <a:srgbClr val="000000"/>
                          </a:solidFill>
                        </a:rPr>
                        <a:t>Strength</a:t>
                      </a:r>
                    </a:p>
                  </a:txBody>
                  <a:tcPr anchor="t" marL="45720" marR="45720" marT="18288" marB="18288">
                    <a:solidFill>
                      <a:srgbClr val="D9D9D9"/>
                    </a:solidFill>
                  </a:tcPr>
                </a:tc>
                <a:tc>
                  <a:txBody>
                    <a:bodyPr/>
                    <a:lstStyle/>
                    <a:p>
                      <a:r>
                        <a:rPr sz="900" b="1">
                          <a:solidFill>
                            <a:srgbClr val="000000"/>
                          </a:solidFill>
                        </a:rPr>
                        <a:t>Weakness / cost</a:t>
                      </a:r>
                    </a:p>
                  </a:txBody>
                  <a:tcPr anchor="t" marL="45720" marR="45720" marT="18288" marB="18288">
                    <a:solidFill>
                      <a:srgbClr val="D9D9D9"/>
                    </a:solidFill>
                  </a:tcPr>
                </a:tc>
                <a:tc>
                  <a:txBody>
                    <a:bodyPr/>
                    <a:lstStyle/>
                    <a:p>
                      <a:r>
                        <a:rPr sz="900" b="1">
                          <a:solidFill>
                            <a:srgbClr val="000000"/>
                          </a:solidFill>
                        </a:rPr>
                        <a:t>Verdict vs today</a:t>
                      </a:r>
                    </a:p>
                  </a:txBody>
                  <a:tcPr anchor="t" marL="45720" marR="45720" marT="18288" marB="18288">
                    <a:solidFill>
                      <a:srgbClr val="D9D9D9"/>
                    </a:solidFill>
                  </a:tcPr>
                </a:tc>
              </a:tr>
              <a:tr h="765810">
                <a:tc>
                  <a:txBody>
                    <a:bodyPr/>
                    <a:lstStyle/>
                    <a:p>
                      <a:r>
                        <a:rPr sz="900" b="0">
                          <a:solidFill>
                            <a:srgbClr val="000000"/>
                          </a:solidFill>
                        </a:rPr>
                        <a:t>1-bit ADC + FIR feedback DAC</a:t>
                      </a:r>
                    </a:p>
                  </a:txBody>
                  <a:tcPr anchor="t" marL="45720" marR="45720" marT="18288" marB="18288">
                    <a:solidFill>
                      <a:srgbClr val="FFFFFF"/>
                    </a:solidFill>
                  </a:tcPr>
                </a:tc>
                <a:tc>
                  <a:txBody>
                    <a:bodyPr/>
                    <a:lstStyle/>
                    <a:p>
                      <a:r>
                        <a:rPr sz="900" b="0">
                          <a:solidFill>
                            <a:srgbClr val="000000"/>
                          </a:solidFill>
                        </a:rPr>
                        <a:t>multi-bit-like jitter tolerance + relaxed loop-filter linearity, 2-level linear DAC (no DEM)</a:t>
                      </a:r>
                    </a:p>
                  </a:txBody>
                  <a:tcPr anchor="t" marL="45720" marR="45720" marT="18288" marB="18288">
                    <a:solidFill>
                      <a:srgbClr val="FFFFFF"/>
                    </a:solidFill>
                  </a:tcPr>
                </a:tc>
                <a:tc>
                  <a:txBody>
                    <a:bodyPr/>
                    <a:lstStyle/>
                    <a:p>
                      <a:r>
                        <a:rPr sz="900" b="0">
                          <a:solidFill>
                            <a:srgbClr val="000000"/>
                          </a:solidFill>
                        </a:rPr>
                        <a:t>adds group delay -&gt; needs compensation; FIR taps add area/routing</a:t>
                      </a:r>
                    </a:p>
                  </a:txBody>
                  <a:tcPr anchor="t" marL="45720" marR="45720" marT="18288" marB="18288">
                    <a:solidFill>
                      <a:srgbClr val="FFFFFF"/>
                    </a:solidFill>
                  </a:tcPr>
                </a:tc>
                <a:tc>
                  <a:txBody>
                    <a:bodyPr/>
                    <a:lstStyle/>
                    <a:p>
                      <a:r>
                        <a:rPr sz="900" b="0">
                          <a:solidFill>
                            <a:srgbClr val="000000"/>
                          </a:solidFill>
                        </a:rPr>
                        <a:t>still the dominant idea, widely adopted after 2012</a:t>
                      </a:r>
                    </a:p>
                  </a:txBody>
                  <a:tcPr anchor="t" marL="45720" marR="45720" marT="18288" marB="18288">
                    <a:solidFill>
                      <a:srgbClr val="FFFFFF"/>
                    </a:solidFill>
                  </a:tcPr>
                </a:tc>
              </a:tr>
              <a:tr h="765810">
                <a:tc>
                  <a:txBody>
                    <a:bodyPr/>
                    <a:lstStyle/>
                    <a:p>
                      <a:r>
                        <a:rPr sz="900" b="0">
                          <a:solidFill>
                            <a:srgbClr val="000000"/>
                          </a:solidFill>
                        </a:rPr>
                        <a:t>Analog FIR-delay compensation (E(z)+H1(s))</a:t>
                      </a:r>
                    </a:p>
                  </a:txBody>
                  <a:tcPr anchor="t" marL="45720" marR="45720" marT="18288" marB="18288">
                    <a:solidFill>
                      <a:srgbClr val="FFFFFF"/>
                    </a:solidFill>
                  </a:tcPr>
                </a:tc>
                <a:tc>
                  <a:txBody>
                    <a:bodyPr/>
                    <a:lstStyle/>
                    <a:p>
                      <a:r>
                        <a:rPr sz="900" b="0">
                          <a:solidFill>
                            <a:srgbClr val="000000"/>
                          </a:solidFill>
                        </a:rPr>
                        <a:t>restores the NTF; bandpass keeps its own jitter/offset out of band; mostly analog</a:t>
                      </a:r>
                    </a:p>
                  </a:txBody>
                  <a:tcPr anchor="t" marL="45720" marR="45720" marT="18288" marB="18288">
                    <a:solidFill>
                      <a:srgbClr val="FFFFFF"/>
                    </a:solidFill>
                  </a:tcPr>
                </a:tc>
                <a:tc>
                  <a:txBody>
                    <a:bodyPr/>
                    <a:lstStyle/>
                    <a:p>
                      <a:r>
                        <a:rPr sz="900" b="0">
                          <a:solidFill>
                            <a:srgbClr val="000000"/>
                          </a:solidFill>
                        </a:rPr>
                        <a:t>complex to design; extra opamp + matched replicas; RC-spread sensitive</a:t>
                      </a:r>
                    </a:p>
                  </a:txBody>
                  <a:tcPr anchor="t" marL="45720" marR="45720" marT="18288" marB="18288">
                    <a:solidFill>
                      <a:srgbClr val="FFFFFF"/>
                    </a:solidFill>
                  </a:tcPr>
                </a:tc>
                <a:tc>
                  <a:txBody>
                    <a:bodyPr/>
                    <a:lstStyle/>
                    <a:p>
                      <a:r>
                        <a:rPr sz="900" b="0">
                          <a:solidFill>
                            <a:srgbClr val="000000"/>
                          </a:solidFill>
                        </a:rPr>
                        <a:t>partly superseded by digital ELD / dual-RZ</a:t>
                      </a:r>
                    </a:p>
                  </a:txBody>
                  <a:tcPr anchor="t" marL="45720" marR="45720" marT="18288" marB="18288">
                    <a:solidFill>
                      <a:srgbClr val="FFFFFF"/>
                    </a:solidFill>
                  </a:tcPr>
                </a:tc>
              </a:tr>
              <a:tr h="765810">
                <a:tc>
                  <a:txBody>
                    <a:bodyPr/>
                    <a:lstStyle/>
                    <a:p>
                      <a:r>
                        <a:rPr sz="900" b="0">
                          <a:solidFill>
                            <a:srgbClr val="000000"/>
                          </a:solidFill>
                        </a:rPr>
                        <a:t>First FIR tap = 0</a:t>
                      </a:r>
                    </a:p>
                  </a:txBody>
                  <a:tcPr anchor="t" marL="45720" marR="45720" marT="18288" marB="18288">
                    <a:solidFill>
                      <a:srgbClr val="FFFFFF"/>
                    </a:solidFill>
                  </a:tcPr>
                </a:tc>
                <a:tc>
                  <a:txBody>
                    <a:bodyPr/>
                    <a:lstStyle/>
                    <a:p>
                      <a:r>
                        <a:rPr sz="900" b="0">
                          <a:solidFill>
                            <a:srgbClr val="000000"/>
                          </a:solidFill>
                        </a:rPr>
                        <a:t>~40 dB metastability-floor recovery for ~free</a:t>
                      </a:r>
                    </a:p>
                  </a:txBody>
                  <a:tcPr anchor="t" marL="45720" marR="45720" marT="18288" marB="18288">
                    <a:solidFill>
                      <a:srgbClr val="FFFFFF"/>
                    </a:solidFill>
                  </a:tcPr>
                </a:tc>
                <a:tc>
                  <a:txBody>
                    <a:bodyPr/>
                    <a:lstStyle/>
                    <a:p>
                      <a:r>
                        <a:rPr sz="900" b="0">
                          <a:solidFill>
                            <a:srgbClr val="000000"/>
                          </a:solidFill>
                        </a:rPr>
                        <a:t>costs one tap of filtering depth</a:t>
                      </a:r>
                    </a:p>
                  </a:txBody>
                  <a:tcPr anchor="t" marL="45720" marR="45720" marT="18288" marB="18288">
                    <a:solidFill>
                      <a:srgbClr val="FFFFFF"/>
                    </a:solidFill>
                  </a:tcPr>
                </a:tc>
                <a:tc>
                  <a:txBody>
                    <a:bodyPr/>
                    <a:lstStyle/>
                    <a:p>
                      <a:r>
                        <a:rPr sz="900" b="0">
                          <a:solidFill>
                            <a:srgbClr val="000000"/>
                          </a:solidFill>
                        </a:rPr>
                        <a:t>clean, still used</a:t>
                      </a:r>
                    </a:p>
                  </a:txBody>
                  <a:tcPr anchor="t" marL="45720" marR="45720" marT="18288" marB="18288">
                    <a:solidFill>
                      <a:srgbClr val="FFFFFF"/>
                    </a:solidFill>
                  </a:tcPr>
                </a:tc>
              </a:tr>
              <a:tr h="765810">
                <a:tc>
                  <a:txBody>
                    <a:bodyPr/>
                    <a:lstStyle/>
                    <a:p>
                      <a:r>
                        <a:rPr sz="900" b="0">
                          <a:solidFill>
                            <a:srgbClr val="000000"/>
                          </a:solidFill>
                        </a:rPr>
                        <a:t>RZ DAC ELD compensation</a:t>
                      </a:r>
                    </a:p>
                  </a:txBody>
                  <a:tcPr anchor="t" marL="45720" marR="45720" marT="18288" marB="18288">
                    <a:solidFill>
                      <a:srgbClr val="FFFFFF"/>
                    </a:solidFill>
                  </a:tcPr>
                </a:tc>
                <a:tc>
                  <a:txBody>
                    <a:bodyPr/>
                    <a:lstStyle/>
                    <a:p>
                      <a:r>
                        <a:rPr sz="900" b="0">
                          <a:solidFill>
                            <a:srgbClr val="000000"/>
                          </a:solidFill>
                        </a:rPr>
                        <a:t>no power-hungry summer around the quantizer</a:t>
                      </a:r>
                    </a:p>
                  </a:txBody>
                  <a:tcPr anchor="t" marL="45720" marR="45720" marT="18288" marB="18288">
                    <a:solidFill>
                      <a:srgbClr val="FFFFFF"/>
                    </a:solidFill>
                  </a:tcPr>
                </a:tc>
                <a:tc>
                  <a:txBody>
                    <a:bodyPr/>
                    <a:lstStyle/>
                    <a:p>
                      <a:r>
                        <a:rPr sz="900" b="0">
                          <a:solidFill>
                            <a:srgbClr val="000000"/>
                          </a:solidFill>
                        </a:rPr>
                        <a:t>RZ adds jitter sensitivity on that path</a:t>
                      </a:r>
                    </a:p>
                  </a:txBody>
                  <a:tcPr anchor="t" marL="45720" marR="45720" marT="18288" marB="18288">
                    <a:solidFill>
                      <a:srgbClr val="FFFFFF"/>
                    </a:solidFill>
                  </a:tcPr>
                </a:tc>
                <a:tc>
                  <a:txBody>
                    <a:bodyPr/>
                    <a:lstStyle/>
                    <a:p>
                      <a:r>
                        <a:rPr sz="900" b="0">
                          <a:solidFill>
                            <a:srgbClr val="000000"/>
                          </a:solidFill>
                        </a:rPr>
                        <a:t>standard practice</a:t>
                      </a:r>
                    </a:p>
                  </a:txBody>
                  <a:tcPr anchor="t" marL="45720" marR="45720" marT="18288" marB="18288">
                    <a:solidFill>
                      <a:srgbClr val="FFFFFF"/>
                    </a:solidFill>
                  </a:tcPr>
                </a:tc>
              </a:tr>
              <a:tr h="765810">
                <a:tc>
                  <a:txBody>
                    <a:bodyPr/>
                    <a:lstStyle/>
                    <a:p>
                      <a:r>
                        <a:rPr sz="900" b="0">
                          <a:solidFill>
                            <a:srgbClr val="000000"/>
                          </a:solidFill>
                        </a:rPr>
                        <a:t>CIFB + feed-forward, active-RC, assisted opamp</a:t>
                      </a:r>
                    </a:p>
                  </a:txBody>
                  <a:tcPr anchor="t" marL="45720" marR="45720" marT="18288" marB="18288">
                    <a:solidFill>
                      <a:srgbClr val="FFFFFF"/>
                    </a:solidFill>
                  </a:tcPr>
                </a:tc>
                <a:tc>
                  <a:txBody>
                    <a:bodyPr/>
                    <a:lstStyle/>
                    <a:p>
                      <a:r>
                        <a:rPr sz="900" b="0">
                          <a:solidFill>
                            <a:srgbClr val="000000"/>
                          </a:solidFill>
                        </a:rPr>
                        <a:t>decoupled fast/precise paths, small caps, low opamp power</a:t>
                      </a:r>
                    </a:p>
                  </a:txBody>
                  <a:tcPr anchor="t" marL="45720" marR="45720" marT="18288" marB="18288">
                    <a:solidFill>
                      <a:srgbClr val="FFFFFF"/>
                    </a:solidFill>
                  </a:tcPr>
                </a:tc>
                <a:tc>
                  <a:txBody>
                    <a:bodyPr/>
                    <a:lstStyle/>
                    <a:p>
                      <a:r>
                        <a:rPr sz="900" b="0">
                          <a:solidFill>
                            <a:srgbClr val="000000"/>
                          </a:solidFill>
                        </a:rPr>
                        <a:t>STF peaking -&gt; needs input pre-filter; many DAC feed-ins</a:t>
                      </a:r>
                    </a:p>
                  </a:txBody>
                  <a:tcPr anchor="t" marL="45720" marR="45720" marT="18288" marB="18288">
                    <a:solidFill>
                      <a:srgbClr val="FFFFFF"/>
                    </a:solidFill>
                  </a:tcPr>
                </a:tc>
                <a:tc>
                  <a:txBody>
                    <a:bodyPr/>
                    <a:lstStyle/>
                    <a:p>
                      <a:r>
                        <a:rPr sz="900" b="0">
                          <a:solidFill>
                            <a:srgbClr val="000000"/>
                          </a:solidFill>
                        </a:rPr>
                        <a:t>typical for high-speed CT DSM</a:t>
                      </a:r>
                    </a:p>
                  </a:txBody>
                  <a:tcPr anchor="t" marL="45720" marR="45720" marT="18288" marB="18288">
                    <a:solidFill>
                      <a:srgbClr val="FFFFFF"/>
                    </a:solidFill>
                  </a:tcPr>
                </a:tc>
              </a:tr>
              <a:tr h="765810">
                <a:tc>
                  <a:txBody>
                    <a:bodyPr/>
                    <a:lstStyle/>
                    <a:p>
                      <a:r>
                        <a:rPr sz="900" b="0">
                          <a:solidFill>
                            <a:srgbClr val="000000"/>
                          </a:solidFill>
                        </a:rPr>
                        <a:t>High-initial-current comparator latch</a:t>
                      </a:r>
                    </a:p>
                  </a:txBody>
                  <a:tcPr anchor="t" marL="45720" marR="45720" marT="18288" marB="18288">
                    <a:solidFill>
                      <a:srgbClr val="FFFFFF"/>
                    </a:solidFill>
                  </a:tcPr>
                </a:tc>
                <a:tc>
                  <a:txBody>
                    <a:bodyPr/>
                    <a:lstStyle/>
                    <a:p>
                      <a:r>
                        <a:rPr sz="900" b="0">
                          <a:solidFill>
                            <a:srgbClr val="000000"/>
                          </a:solidFill>
                        </a:rPr>
                        <a:t>beats CML power at 3.6 GS/s</a:t>
                      </a:r>
                    </a:p>
                  </a:txBody>
                  <a:tcPr anchor="t" marL="45720" marR="45720" marT="18288" marB="18288">
                    <a:solidFill>
                      <a:srgbClr val="FFFFFF"/>
                    </a:solidFill>
                  </a:tcPr>
                </a:tc>
                <a:tc>
                  <a:txBody>
                    <a:bodyPr/>
                    <a:lstStyle/>
                    <a:p>
                      <a:r>
                        <a:rPr sz="900" b="0">
                          <a:solidFill>
                            <a:srgbClr val="000000"/>
                          </a:solidFill>
                        </a:rPr>
                        <a:t>custom timing</a:t>
                      </a:r>
                    </a:p>
                  </a:txBody>
                  <a:tcPr anchor="t" marL="45720" marR="45720" marT="18288" marB="18288">
                    <a:solidFill>
                      <a:srgbClr val="FFFFFF"/>
                    </a:solidFill>
                  </a:tcPr>
                </a:tc>
                <a:tc>
                  <a:txBody>
                    <a:bodyPr/>
                    <a:lstStyle/>
                    <a:p>
                      <a:r>
                        <a:rPr sz="900" b="0">
                          <a:solidFill>
                            <a:srgbClr val="000000"/>
                          </a:solidFill>
                        </a:rPr>
                        <a:t>fine</a:t>
                      </a:r>
                    </a:p>
                  </a:txBody>
                  <a:tcPr anchor="t" marL="45720" marR="45720" marT="18288" marB="18288">
                    <a:solidFill>
                      <a:srgbClr val="FFFFFF"/>
                    </a:solidFill>
                  </a:tcPr>
                </a:tc>
              </a:tr>
              <a:tr h="765810">
                <a:tc>
                  <a:txBody>
                    <a:bodyPr/>
                    <a:lstStyle/>
                    <a:p>
                      <a:r>
                        <a:rPr sz="900" b="0">
                          <a:solidFill>
                            <a:srgbClr val="000000"/>
                          </a:solidFill>
                        </a:rPr>
                        <a:t>Digital ISI correction (post-facto)</a:t>
                      </a:r>
                    </a:p>
                  </a:txBody>
                  <a:tcPr anchor="t" marL="45720" marR="45720" marT="18288" marB="18288">
                    <a:solidFill>
                      <a:srgbClr val="FFFFFF"/>
                    </a:solidFill>
                  </a:tcPr>
                </a:tc>
                <a:tc>
                  <a:txBody>
                    <a:bodyPr/>
                    <a:lstStyle/>
                    <a:p>
                      <a:r>
                        <a:rPr sz="900" b="0">
                          <a:solidFill>
                            <a:srgbClr val="000000"/>
                          </a:solidFill>
                        </a:rPr>
                        <a:t>recovers ~3-4 dB SNDR, confirms the ISI origin</a:t>
                      </a:r>
                    </a:p>
                  </a:txBody>
                  <a:tcPr anchor="t" marL="45720" marR="45720" marT="18288" marB="18288">
                    <a:solidFill>
                      <a:srgbClr val="FFFFFF"/>
                    </a:solidFill>
                  </a:tcPr>
                </a:tc>
                <a:tc>
                  <a:txBody>
                    <a:bodyPr/>
                    <a:lstStyle/>
                    <a:p>
                      <a:r>
                        <a:rPr sz="900" b="0">
                          <a:solidFill>
                            <a:srgbClr val="000000"/>
                          </a:solidFill>
                        </a:rPr>
                        <a:t>off-line, single fixed alpha, not adaptive/on-chip</a:t>
                      </a:r>
                    </a:p>
                  </a:txBody>
                  <a:tcPr anchor="t" marL="45720" marR="45720" marT="18288" marB="18288">
                    <a:solidFill>
                      <a:srgbClr val="FFFFFF"/>
                    </a:solidFill>
                  </a:tcPr>
                </a:tc>
                <a:tc>
                  <a:txBody>
                    <a:bodyPr/>
                    <a:lstStyle/>
                    <a:p>
                      <a:r>
                        <a:rPr sz="900" b="0">
                          <a:solidFill>
                            <a:srgbClr val="000000"/>
                          </a:solidFill>
                        </a:rPr>
                        <a:t>the obvious improvement target</a:t>
                      </a:r>
                    </a:p>
                  </a:txBody>
                  <a:tcPr anchor="t" marL="45720" marR="45720" marT="18288" marB="18288">
                    <a:solidFill>
                      <a:srgbClr val="FFFFFF"/>
                    </a:solidFill>
                  </a:tcPr>
                </a:tc>
              </a:tr>
            </a:tbl>
          </a:graphicData>
        </a:graphic>
      </p:graphicFrame>
      <p:sp>
        <p:nvSpPr>
          <p:cNvPr id="19" name="TextBox 18"/>
          <p:cNvSpPr txBox="1"/>
          <p:nvPr/>
        </p:nvSpPr>
        <p:spPr>
          <a:xfrm>
            <a:off x="365760" y="7863840"/>
            <a:ext cx="12252960" cy="1463040"/>
          </a:xfrm>
          <a:prstGeom prst="rect">
            <a:avLst/>
          </a:prstGeom>
          <a:noFill/>
        </p:spPr>
        <p:txBody>
          <a:bodyPr wrap="square" anchor="t">
            <a:spAutoFit/>
          </a:bodyPr>
          <a:lstStyle/>
          <a:p>
            <a:pPr/>
            <a:r>
              <a:rPr sz="1200" b="1">
                <a:solidFill>
                  <a:srgbClr val="000000"/>
                </a:solidFill>
              </a:rPr>
              <a:t>Conclusion: the paper solves jitter, loop-filter linearity and DAC linearity/DEM; the residual weakness is ISI-induced HD2, fixed only in post-processing (SNDR 70.9 vs ~95 dB SQNR target).</a:t>
            </a:r>
          </a:p>
        </p:txBody>
      </p:sp>
    </p:spTree>
    <p:extLst>
      <p:ext uri="{BB962C8B-B14F-4D97-AF65-F5344CB8AC3E}">
        <p14:creationId xmlns:p14="http://schemas.microsoft.com/office/powerpoint/2010/main" val="3183957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Q6. Comparison (extended Table II)</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fontScale="92500"/>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Q6. Compare the adopted techniques to other SD modulator architectures and to different solutions. The comparison should include (but is not limited to) the other works cited in the paper. Prepare or extend the comparison table present in the paper with your analysis (5 points)</a:t>
            </a:r>
            <a:endParaRPr lang="en-US" dirty="0"/>
          </a:p>
        </p:txBody>
      </p:sp>
      <p:graphicFrame>
        <p:nvGraphicFramePr>
          <p:cNvPr id="18" name="Table 17"/>
          <p:cNvGraphicFramePr>
            <a:graphicFrameLocks noGrp="1"/>
          </p:cNvGraphicFramePr>
          <p:nvPr/>
        </p:nvGraphicFramePr>
        <p:xfrm>
          <a:off x="274320" y="1463040"/>
          <a:ext cx="12435840" cy="4937760"/>
        </p:xfrm>
        <a:graphic>
          <a:graphicData uri="http://schemas.openxmlformats.org/drawingml/2006/table">
            <a:tbl>
              <a:tblPr>
                <a:tableStyleId>{5C22544A-7EE6-4342-B048-85BDC9FD1C3A}</a:tableStyleId>
              </a:tblPr>
              <a:tblGrid>
                <a:gridCol w="1737360"/>
                <a:gridCol w="1737360"/>
                <a:gridCol w="1005840"/>
                <a:gridCol w="914400"/>
                <a:gridCol w="1005840"/>
                <a:gridCol w="1097280"/>
                <a:gridCol w="1005840"/>
                <a:gridCol w="3931920"/>
              </a:tblGrid>
              <a:tr h="617220">
                <a:tc>
                  <a:txBody>
                    <a:bodyPr/>
                    <a:lstStyle/>
                    <a:p>
                      <a:r>
                        <a:rPr sz="900" b="1">
                          <a:solidFill>
                            <a:srgbClr val="000000"/>
                          </a:solidFill>
                        </a:rPr>
                        <a:t>Design (year)</a:t>
                      </a:r>
                    </a:p>
                  </a:txBody>
                  <a:tcPr anchor="t" marL="45720" marR="45720" marT="18288" marB="18288">
                    <a:solidFill>
                      <a:srgbClr val="D9D9D9"/>
                    </a:solidFill>
                  </a:tcPr>
                </a:tc>
                <a:tc>
                  <a:txBody>
                    <a:bodyPr/>
                    <a:lstStyle/>
                    <a:p>
                      <a:r>
                        <a:rPr sz="900" b="1">
                          <a:solidFill>
                            <a:srgbClr val="000000"/>
                          </a:solidFill>
                        </a:rPr>
                        <a:t>Tech / Vdd</a:t>
                      </a:r>
                    </a:p>
                  </a:txBody>
                  <a:tcPr anchor="t" marL="45720" marR="45720" marT="18288" marB="18288">
                    <a:solidFill>
                      <a:srgbClr val="D9D9D9"/>
                    </a:solidFill>
                  </a:tcPr>
                </a:tc>
                <a:tc>
                  <a:txBody>
                    <a:bodyPr/>
                    <a:lstStyle/>
                    <a:p>
                      <a:r>
                        <a:rPr sz="900" b="1">
                          <a:solidFill>
                            <a:srgbClr val="000000"/>
                          </a:solidFill>
                        </a:rPr>
                        <a:t>BW</a:t>
                      </a:r>
                    </a:p>
                  </a:txBody>
                  <a:tcPr anchor="t" marL="45720" marR="45720" marT="18288" marB="18288">
                    <a:solidFill>
                      <a:srgbClr val="D9D9D9"/>
                    </a:solidFill>
                  </a:tcPr>
                </a:tc>
                <a:tc>
                  <a:txBody>
                    <a:bodyPr/>
                    <a:lstStyle/>
                    <a:p>
                      <a:r>
                        <a:rPr sz="900" b="1">
                          <a:solidFill>
                            <a:srgbClr val="000000"/>
                          </a:solidFill>
                        </a:rPr>
                        <a:t>DR</a:t>
                      </a:r>
                    </a:p>
                  </a:txBody>
                  <a:tcPr anchor="t" marL="45720" marR="45720" marT="18288" marB="18288">
                    <a:solidFill>
                      <a:srgbClr val="D9D9D9"/>
                    </a:solidFill>
                  </a:tcPr>
                </a:tc>
                <a:tc>
                  <a:txBody>
                    <a:bodyPr/>
                    <a:lstStyle/>
                    <a:p>
                      <a:r>
                        <a:rPr sz="900" b="1">
                          <a:solidFill>
                            <a:srgbClr val="000000"/>
                          </a:solidFill>
                        </a:rPr>
                        <a:t>pk SNDR</a:t>
                      </a:r>
                    </a:p>
                  </a:txBody>
                  <a:tcPr anchor="t" marL="45720" marR="45720" marT="18288" marB="18288">
                    <a:solidFill>
                      <a:srgbClr val="D9D9D9"/>
                    </a:solidFill>
                  </a:tcPr>
                </a:tc>
                <a:tc>
                  <a:txBody>
                    <a:bodyPr/>
                    <a:lstStyle/>
                    <a:p>
                      <a:r>
                        <a:rPr sz="900" b="1">
                          <a:solidFill>
                            <a:srgbClr val="000000"/>
                          </a:solidFill>
                        </a:rPr>
                        <a:t>Power</a:t>
                      </a:r>
                    </a:p>
                  </a:txBody>
                  <a:tcPr anchor="t" marL="45720" marR="45720" marT="18288" marB="18288">
                    <a:solidFill>
                      <a:srgbClr val="D9D9D9"/>
                    </a:solidFill>
                  </a:tcPr>
                </a:tc>
                <a:tc>
                  <a:txBody>
                    <a:bodyPr/>
                    <a:lstStyle/>
                    <a:p>
                      <a:r>
                        <a:rPr sz="900" b="1">
                          <a:solidFill>
                            <a:srgbClr val="000000"/>
                          </a:solidFill>
                        </a:rPr>
                        <a:t>FoM_S</a:t>
                      </a:r>
                    </a:p>
                  </a:txBody>
                  <a:tcPr anchor="t" marL="45720" marR="45720" marT="18288" marB="18288">
                    <a:solidFill>
                      <a:srgbClr val="D9D9D9"/>
                    </a:solidFill>
                  </a:tcPr>
                </a:tc>
                <a:tc>
                  <a:txBody>
                    <a:bodyPr/>
                    <a:lstStyle/>
                    <a:p>
                      <a:r>
                        <a:rPr sz="900" b="1">
                          <a:solidFill>
                            <a:srgbClr val="000000"/>
                          </a:solidFill>
                        </a:rPr>
                        <a:t>Key feature</a:t>
                      </a:r>
                    </a:p>
                  </a:txBody>
                  <a:tcPr anchor="t" marL="45720" marR="45720" marT="18288" marB="18288">
                    <a:solidFill>
                      <a:srgbClr val="D9D9D9"/>
                    </a:solidFill>
                  </a:tcPr>
                </a:tc>
              </a:tr>
              <a:tr h="617220">
                <a:tc>
                  <a:txBody>
                    <a:bodyPr/>
                    <a:lstStyle/>
                    <a:p>
                      <a:r>
                        <a:rPr sz="900" b="0">
                          <a:solidFill>
                            <a:srgbClr val="000000"/>
                          </a:solidFill>
                        </a:rPr>
                        <a:t>This work '12</a:t>
                      </a:r>
                    </a:p>
                  </a:txBody>
                  <a:tcPr anchor="t" marL="45720" marR="45720" marT="18288" marB="18288">
                    <a:solidFill>
                      <a:srgbClr val="FFFFFF"/>
                    </a:solidFill>
                  </a:tcPr>
                </a:tc>
                <a:tc>
                  <a:txBody>
                    <a:bodyPr/>
                    <a:lstStyle/>
                    <a:p>
                      <a:r>
                        <a:rPr sz="900" b="0">
                          <a:solidFill>
                            <a:srgbClr val="000000"/>
                          </a:solidFill>
                        </a:rPr>
                        <a:t>90 nm / 1.2 V</a:t>
                      </a:r>
                    </a:p>
                  </a:txBody>
                  <a:tcPr anchor="t" marL="45720" marR="45720" marT="18288" marB="18288">
                    <a:solidFill>
                      <a:srgbClr val="FFFFFF"/>
                    </a:solidFill>
                  </a:tcPr>
                </a:tc>
                <a:tc>
                  <a:txBody>
                    <a:bodyPr/>
                    <a:lstStyle/>
                    <a:p>
                      <a:r>
                        <a:rPr sz="900" b="0">
                          <a:solidFill>
                            <a:srgbClr val="000000"/>
                          </a:solidFill>
                        </a:rPr>
                        <a:t>36 MHz</a:t>
                      </a:r>
                    </a:p>
                  </a:txBody>
                  <a:tcPr anchor="t" marL="45720" marR="45720" marT="18288" marB="18288">
                    <a:solidFill>
                      <a:srgbClr val="FFFFFF"/>
                    </a:solidFill>
                  </a:tcPr>
                </a:tc>
                <a:tc>
                  <a:txBody>
                    <a:bodyPr/>
                    <a:lstStyle/>
                    <a:p>
                      <a:r>
                        <a:rPr sz="900" b="0">
                          <a:solidFill>
                            <a:srgbClr val="000000"/>
                          </a:solidFill>
                        </a:rPr>
                        <a:t>86@25M</a:t>
                      </a:r>
                    </a:p>
                  </a:txBody>
                  <a:tcPr anchor="t" marL="45720" marR="45720" marT="18288" marB="18288">
                    <a:solidFill>
                      <a:srgbClr val="FFFFFF"/>
                    </a:solidFill>
                  </a:tcPr>
                </a:tc>
                <a:tc>
                  <a:txBody>
                    <a:bodyPr/>
                    <a:lstStyle/>
                    <a:p>
                      <a:r>
                        <a:rPr sz="900" b="0">
                          <a:solidFill>
                            <a:srgbClr val="000000"/>
                          </a:solidFill>
                        </a:rPr>
                        <a:t>71@36M</a:t>
                      </a:r>
                    </a:p>
                  </a:txBody>
                  <a:tcPr anchor="t" marL="45720" marR="45720" marT="18288" marB="18288">
                    <a:solidFill>
                      <a:srgbClr val="FFFFFF"/>
                    </a:solidFill>
                  </a:tcPr>
                </a:tc>
                <a:tc>
                  <a:txBody>
                    <a:bodyPr/>
                    <a:lstStyle/>
                    <a:p>
                      <a:r>
                        <a:rPr sz="900" b="0">
                          <a:solidFill>
                            <a:srgbClr val="000000"/>
                          </a:solidFill>
                        </a:rPr>
                        <a:t>15 mW</a:t>
                      </a:r>
                    </a:p>
                  </a:txBody>
                  <a:tcPr anchor="t" marL="45720" marR="45720" marT="18288" marB="18288">
                    <a:solidFill>
                      <a:srgbClr val="FFFFFF"/>
                    </a:solidFill>
                  </a:tcPr>
                </a:tc>
                <a:tc>
                  <a:txBody>
                    <a:bodyPr/>
                    <a:lstStyle/>
                    <a:p>
                      <a:r>
                        <a:rPr sz="900" b="0">
                          <a:solidFill>
                            <a:srgbClr val="000000"/>
                          </a:solidFill>
                        </a:rPr>
                        <a:t>176.8</a:t>
                      </a:r>
                    </a:p>
                  </a:txBody>
                  <a:tcPr anchor="t" marL="45720" marR="45720" marT="18288" marB="18288">
                    <a:solidFill>
                      <a:srgbClr val="FFFFFF"/>
                    </a:solidFill>
                  </a:tcPr>
                </a:tc>
                <a:tc>
                  <a:txBody>
                    <a:bodyPr/>
                    <a:lstStyle/>
                    <a:p>
                      <a:r>
                        <a:rPr sz="900" b="0">
                          <a:solidFill>
                            <a:srgbClr val="000000"/>
                          </a:solidFill>
                        </a:rPr>
                        <a:t>1-bit, 8-tap FIR + analog ELD comp</a:t>
                      </a:r>
                    </a:p>
                  </a:txBody>
                  <a:tcPr anchor="t" marL="45720" marR="45720" marT="18288" marB="18288">
                    <a:solidFill>
                      <a:srgbClr val="FFFFFF"/>
                    </a:solidFill>
                  </a:tcPr>
                </a:tc>
              </a:tr>
              <a:tr h="617220">
                <a:tc>
                  <a:txBody>
                    <a:bodyPr/>
                    <a:lstStyle/>
                    <a:p>
                      <a:r>
                        <a:rPr sz="900" b="0">
                          <a:solidFill>
                            <a:srgbClr val="000000"/>
                          </a:solidFill>
                        </a:rPr>
                        <a:t>Bolatkale '11 [6]</a:t>
                      </a:r>
                    </a:p>
                  </a:txBody>
                  <a:tcPr anchor="t" marL="45720" marR="45720" marT="18288" marB="18288">
                    <a:solidFill>
                      <a:srgbClr val="FFFFFF"/>
                    </a:solidFill>
                  </a:tcPr>
                </a:tc>
                <a:tc>
                  <a:txBody>
                    <a:bodyPr/>
                    <a:lstStyle/>
                    <a:p>
                      <a:r>
                        <a:rPr sz="900" b="0">
                          <a:solidFill>
                            <a:srgbClr val="000000"/>
                          </a:solidFill>
                        </a:rPr>
                        <a:t>45 nm / 1.1+1.8 V</a:t>
                      </a:r>
                    </a:p>
                  </a:txBody>
                  <a:tcPr anchor="t" marL="45720" marR="45720" marT="18288" marB="18288">
                    <a:solidFill>
                      <a:srgbClr val="FFFFFF"/>
                    </a:solidFill>
                  </a:tcPr>
                </a:tc>
                <a:tc>
                  <a:txBody>
                    <a:bodyPr/>
                    <a:lstStyle/>
                    <a:p>
                      <a:r>
                        <a:rPr sz="900" b="0">
                          <a:solidFill>
                            <a:srgbClr val="000000"/>
                          </a:solidFill>
                        </a:rPr>
                        <a:t>125 MHz</a:t>
                      </a:r>
                    </a:p>
                  </a:txBody>
                  <a:tcPr anchor="t" marL="45720" marR="45720" marT="18288" marB="18288">
                    <a:solidFill>
                      <a:srgbClr val="FFFFFF"/>
                    </a:solidFill>
                  </a:tcPr>
                </a:tc>
                <a:tc>
                  <a:txBody>
                    <a:bodyPr/>
                    <a:lstStyle/>
                    <a:p>
                      <a:r>
                        <a:rPr sz="900" b="0">
                          <a:solidFill>
                            <a:srgbClr val="000000"/>
                          </a:solidFill>
                        </a:rPr>
                        <a:t>70</a:t>
                      </a:r>
                    </a:p>
                  </a:txBody>
                  <a:tcPr anchor="t" marL="45720" marR="45720" marT="18288" marB="18288">
                    <a:solidFill>
                      <a:srgbClr val="FFFFFF"/>
                    </a:solidFill>
                  </a:tcPr>
                </a:tc>
                <a:tc>
                  <a:txBody>
                    <a:bodyPr/>
                    <a:lstStyle/>
                    <a:p>
                      <a:r>
                        <a:rPr sz="900" b="0">
                          <a:solidFill>
                            <a:srgbClr val="000000"/>
                          </a:solidFill>
                        </a:rPr>
                        <a:t>65</a:t>
                      </a:r>
                    </a:p>
                  </a:txBody>
                  <a:tcPr anchor="t" marL="45720" marR="45720" marT="18288" marB="18288">
                    <a:solidFill>
                      <a:srgbClr val="FFFFFF"/>
                    </a:solidFill>
                  </a:tcPr>
                </a:tc>
                <a:tc>
                  <a:txBody>
                    <a:bodyPr/>
                    <a:lstStyle/>
                    <a:p>
                      <a:r>
                        <a:rPr sz="900" b="0">
                          <a:solidFill>
                            <a:srgbClr val="000000"/>
                          </a:solidFill>
                        </a:rPr>
                        <a:t>260 mW</a:t>
                      </a:r>
                    </a:p>
                  </a:txBody>
                  <a:tcPr anchor="t" marL="45720" marR="45720" marT="18288" marB="18288">
                    <a:solidFill>
                      <a:srgbClr val="FFFFFF"/>
                    </a:solidFill>
                  </a:tcPr>
                </a:tc>
                <a:tc>
                  <a:txBody>
                    <a:bodyPr/>
                    <a:lstStyle/>
                    <a:p>
                      <a:r>
                        <a:rPr sz="900" b="0">
                          <a:solidFill>
                            <a:srgbClr val="000000"/>
                          </a:solidFill>
                        </a:rPr>
                        <a:t>~157</a:t>
                      </a:r>
                    </a:p>
                  </a:txBody>
                  <a:tcPr anchor="t" marL="45720" marR="45720" marT="18288" marB="18288">
                    <a:solidFill>
                      <a:srgbClr val="FFFFFF"/>
                    </a:solidFill>
                  </a:tcPr>
                </a:tc>
                <a:tc>
                  <a:txBody>
                    <a:bodyPr/>
                    <a:lstStyle/>
                    <a:p>
                      <a:r>
                        <a:rPr sz="900" b="0">
                          <a:solidFill>
                            <a:srgbClr val="000000"/>
                          </a:solidFill>
                        </a:rPr>
                        <a:t>4-bit CT, cap-FF, direct ELD (no FIR)</a:t>
                      </a:r>
                    </a:p>
                  </a:txBody>
                  <a:tcPr anchor="t" marL="45720" marR="45720" marT="18288" marB="18288">
                    <a:solidFill>
                      <a:srgbClr val="FFFFFF"/>
                    </a:solidFill>
                  </a:tcPr>
                </a:tc>
              </a:tr>
              <a:tr h="617220">
                <a:tc>
                  <a:txBody>
                    <a:bodyPr/>
                    <a:lstStyle/>
                    <a:p>
                      <a:r>
                        <a:rPr sz="900" b="0">
                          <a:solidFill>
                            <a:srgbClr val="000000"/>
                          </a:solidFill>
                        </a:rPr>
                        <a:t>Sukumaran '14</a:t>
                      </a:r>
                    </a:p>
                  </a:txBody>
                  <a:tcPr anchor="t" marL="45720" marR="45720" marT="18288" marB="18288">
                    <a:solidFill>
                      <a:srgbClr val="FFFFFF"/>
                    </a:solidFill>
                  </a:tcPr>
                </a:tc>
                <a:tc>
                  <a:txBody>
                    <a:bodyPr/>
                    <a:lstStyle/>
                    <a:p>
                      <a:r>
                        <a:rPr sz="900" b="0">
                          <a:solidFill>
                            <a:srgbClr val="000000"/>
                          </a:solidFill>
                        </a:rPr>
                        <a:t>180 nm / 1.8 V</a:t>
                      </a:r>
                    </a:p>
                  </a:txBody>
                  <a:tcPr anchor="t" marL="45720" marR="45720" marT="18288" marB="18288">
                    <a:solidFill>
                      <a:srgbClr val="FFFFFF"/>
                    </a:solidFill>
                  </a:tcPr>
                </a:tc>
                <a:tc>
                  <a:txBody>
                    <a:bodyPr/>
                    <a:lstStyle/>
                    <a:p>
                      <a:r>
                        <a:rPr sz="900" b="0">
                          <a:solidFill>
                            <a:srgbClr val="000000"/>
                          </a:solidFill>
                        </a:rPr>
                        <a:t>24 kHz</a:t>
                      </a:r>
                    </a:p>
                  </a:txBody>
                  <a:tcPr anchor="t" marL="45720" marR="45720" marT="18288" marB="18288">
                    <a:solidFill>
                      <a:srgbClr val="FFFFFF"/>
                    </a:solidFill>
                  </a:tcPr>
                </a:tc>
                <a:tc>
                  <a:txBody>
                    <a:bodyPr/>
                    <a:lstStyle/>
                    <a:p>
                      <a:r>
                        <a:rPr sz="900" b="0">
                          <a:solidFill>
                            <a:srgbClr val="000000"/>
                          </a:solidFill>
                        </a:rPr>
                        <a:t>103</a:t>
                      </a:r>
                    </a:p>
                  </a:txBody>
                  <a:tcPr anchor="t" marL="45720" marR="45720" marT="18288" marB="18288">
                    <a:solidFill>
                      <a:srgbClr val="FFFFFF"/>
                    </a:solidFill>
                  </a:tcPr>
                </a:tc>
                <a:tc>
                  <a:txBody>
                    <a:bodyPr/>
                    <a:lstStyle/>
                    <a:p>
                      <a:r>
                        <a:rPr sz="900" b="0">
                          <a:solidFill>
                            <a:srgbClr val="000000"/>
                          </a:solidFill>
                        </a:rPr>
                        <a:t>98.2</a:t>
                      </a:r>
                    </a:p>
                  </a:txBody>
                  <a:tcPr anchor="t" marL="45720" marR="45720" marT="18288" marB="18288">
                    <a:solidFill>
                      <a:srgbClr val="FFFFFF"/>
                    </a:solidFill>
                  </a:tcPr>
                </a:tc>
                <a:tc>
                  <a:txBody>
                    <a:bodyPr/>
                    <a:lstStyle/>
                    <a:p>
                      <a:r>
                        <a:rPr sz="900" b="0">
                          <a:solidFill>
                            <a:srgbClr val="000000"/>
                          </a:solidFill>
                        </a:rPr>
                        <a:t>280 uW</a:t>
                      </a:r>
                    </a:p>
                  </a:txBody>
                  <a:tcPr anchor="t" marL="45720" marR="45720" marT="18288" marB="18288">
                    <a:solidFill>
                      <a:srgbClr val="FFFFFF"/>
                    </a:solidFill>
                  </a:tcPr>
                </a:tc>
                <a:tc>
                  <a:txBody>
                    <a:bodyPr/>
                    <a:lstStyle/>
                    <a:p>
                      <a:r>
                        <a:rPr sz="900" b="0">
                          <a:solidFill>
                            <a:srgbClr val="000000"/>
                          </a:solidFill>
                        </a:rPr>
                        <a:t>182.3</a:t>
                      </a:r>
                    </a:p>
                  </a:txBody>
                  <a:tcPr anchor="t" marL="45720" marR="45720" marT="18288" marB="18288">
                    <a:solidFill>
                      <a:srgbClr val="FFFFFF"/>
                    </a:solidFill>
                  </a:tcPr>
                </a:tc>
                <a:tc>
                  <a:txBody>
                    <a:bodyPr/>
                    <a:lstStyle/>
                    <a:p>
                      <a:r>
                        <a:rPr sz="900" b="0">
                          <a:solidFill>
                            <a:srgbClr val="000000"/>
                          </a:solidFill>
                        </a:rPr>
                        <a:t>1-bit FIR audio + ISI cal + dither</a:t>
                      </a:r>
                    </a:p>
                  </a:txBody>
                  <a:tcPr anchor="t" marL="45720" marR="45720" marT="18288" marB="18288">
                    <a:solidFill>
                      <a:srgbClr val="FFFFFF"/>
                    </a:solidFill>
                  </a:tcPr>
                </a:tc>
              </a:tr>
              <a:tr h="617220">
                <a:tc>
                  <a:txBody>
                    <a:bodyPr/>
                    <a:lstStyle/>
                    <a:p>
                      <a:r>
                        <a:rPr sz="900" b="0">
                          <a:solidFill>
                            <a:srgbClr val="000000"/>
                          </a:solidFill>
                        </a:rPr>
                        <a:t>Zhang-Temes '15</a:t>
                      </a:r>
                    </a:p>
                  </a:txBody>
                  <a:tcPr anchor="t" marL="45720" marR="45720" marT="18288" marB="18288">
                    <a:solidFill>
                      <a:srgbClr val="FFFFFF"/>
                    </a:solidFill>
                  </a:tcPr>
                </a:tc>
                <a:tc>
                  <a:txBody>
                    <a:bodyPr/>
                    <a:lstStyle/>
                    <a:p>
                      <a:r>
                        <a:rPr sz="900" b="0">
                          <a:solidFill>
                            <a:srgbClr val="000000"/>
                          </a:solidFill>
                        </a:rPr>
                        <a:t>65 nm / 1.0 V</a:t>
                      </a:r>
                    </a:p>
                  </a:txBody>
                  <a:tcPr anchor="t" marL="45720" marR="45720" marT="18288" marB="18288">
                    <a:solidFill>
                      <a:srgbClr val="FFFFFF"/>
                    </a:solidFill>
                  </a:tcPr>
                </a:tc>
                <a:tc>
                  <a:txBody>
                    <a:bodyPr/>
                    <a:lstStyle/>
                    <a:p>
                      <a:r>
                        <a:rPr sz="900" b="0">
                          <a:solidFill>
                            <a:srgbClr val="000000"/>
                          </a:solidFill>
                        </a:rPr>
                        <a:t>15 MHz</a:t>
                      </a:r>
                    </a:p>
                  </a:txBody>
                  <a:tcPr anchor="t" marL="45720" marR="45720" marT="18288" marB="18288">
                    <a:solidFill>
                      <a:srgbClr val="FFFFFF"/>
                    </a:solidFill>
                  </a:tcPr>
                </a:tc>
                <a:tc>
                  <a:txBody>
                    <a:bodyPr/>
                    <a:lstStyle/>
                    <a:p>
                      <a:r>
                        <a:rPr sz="900" b="0">
                          <a:solidFill>
                            <a:srgbClr val="000000"/>
                          </a:solidFill>
                        </a:rPr>
                        <a:t>79.4</a:t>
                      </a:r>
                    </a:p>
                  </a:txBody>
                  <a:tcPr anchor="t" marL="45720" marR="45720" marT="18288" marB="18288">
                    <a:solidFill>
                      <a:srgbClr val="FFFFFF"/>
                    </a:solidFill>
                  </a:tcPr>
                </a:tc>
                <a:tc>
                  <a:txBody>
                    <a:bodyPr/>
                    <a:lstStyle/>
                    <a:p>
                      <a:r>
                        <a:rPr sz="900" b="0">
                          <a:solidFill>
                            <a:srgbClr val="000000"/>
                          </a:solidFill>
                        </a:rPr>
                        <a:t>74.3</a:t>
                      </a:r>
                    </a:p>
                  </a:txBody>
                  <a:tcPr anchor="t" marL="45720" marR="45720" marT="18288" marB="18288">
                    <a:solidFill>
                      <a:srgbClr val="FFFFFF"/>
                    </a:solidFill>
                  </a:tcPr>
                </a:tc>
                <a:tc>
                  <a:txBody>
                    <a:bodyPr/>
                    <a:lstStyle/>
                    <a:p>
                      <a:r>
                        <a:rPr sz="900" b="0">
                          <a:solidFill>
                            <a:srgbClr val="000000"/>
                          </a:solidFill>
                        </a:rPr>
                        <a:t>6.96 mW</a:t>
                      </a:r>
                    </a:p>
                  </a:txBody>
                  <a:tcPr anchor="t" marL="45720" marR="45720" marT="18288" marB="18288">
                    <a:solidFill>
                      <a:srgbClr val="FFFFFF"/>
                    </a:solidFill>
                  </a:tcPr>
                </a:tc>
                <a:tc>
                  <a:txBody>
                    <a:bodyPr/>
                    <a:lstStyle/>
                    <a:p>
                      <a:r>
                        <a:rPr sz="900" b="0">
                          <a:solidFill>
                            <a:srgbClr val="000000"/>
                          </a:solidFill>
                        </a:rPr>
                        <a:t>~172.7</a:t>
                      </a:r>
                    </a:p>
                  </a:txBody>
                  <a:tcPr anchor="t" marL="45720" marR="45720" marT="18288" marB="18288">
                    <a:solidFill>
                      <a:srgbClr val="FFFFFF"/>
                    </a:solidFill>
                  </a:tcPr>
                </a:tc>
                <a:tc>
                  <a:txBody>
                    <a:bodyPr/>
                    <a:lstStyle/>
                    <a:p>
                      <a:r>
                        <a:rPr sz="900" b="0">
                          <a:solidFill>
                            <a:srgbClr val="000000"/>
                          </a:solidFill>
                        </a:rPr>
                        <a:t>2-bit, 3-tap FIR + digital ELD + DWA</a:t>
                      </a:r>
                    </a:p>
                  </a:txBody>
                  <a:tcPr anchor="t" marL="45720" marR="45720" marT="18288" marB="18288">
                    <a:solidFill>
                      <a:srgbClr val="FFFFFF"/>
                    </a:solidFill>
                  </a:tcPr>
                </a:tc>
              </a:tr>
              <a:tr h="617220">
                <a:tc>
                  <a:txBody>
                    <a:bodyPr/>
                    <a:lstStyle/>
                    <a:p>
                      <a:r>
                        <a:rPr sz="900" b="0">
                          <a:solidFill>
                            <a:srgbClr val="000000"/>
                          </a:solidFill>
                        </a:rPr>
                        <a:t>Jain-Pavan '18</a:t>
                      </a:r>
                    </a:p>
                  </a:txBody>
                  <a:tcPr anchor="t" marL="45720" marR="45720" marT="18288" marB="18288">
                    <a:solidFill>
                      <a:srgbClr val="FFFFFF"/>
                    </a:solidFill>
                  </a:tcPr>
                </a:tc>
                <a:tc>
                  <a:txBody>
                    <a:bodyPr/>
                    <a:lstStyle/>
                    <a:p>
                      <a:r>
                        <a:rPr sz="900" b="0">
                          <a:solidFill>
                            <a:srgbClr val="000000"/>
                          </a:solidFill>
                        </a:rPr>
                        <a:t>65 nm / 1.4 V</a:t>
                      </a:r>
                    </a:p>
                  </a:txBody>
                  <a:tcPr anchor="t" marL="45720" marR="45720" marT="18288" marB="18288">
                    <a:solidFill>
                      <a:srgbClr val="FFFFFF"/>
                    </a:solidFill>
                  </a:tcPr>
                </a:tc>
                <a:tc>
                  <a:txBody>
                    <a:bodyPr/>
                    <a:lstStyle/>
                    <a:p>
                      <a:r>
                        <a:rPr sz="900" b="0">
                          <a:solidFill>
                            <a:srgbClr val="000000"/>
                          </a:solidFill>
                        </a:rPr>
                        <a:t>60 MHz</a:t>
                      </a:r>
                    </a:p>
                  </a:txBody>
                  <a:tcPr anchor="t" marL="45720" marR="45720" marT="18288" marB="18288">
                    <a:solidFill>
                      <a:srgbClr val="FFFFFF"/>
                    </a:solidFill>
                  </a:tcPr>
                </a:tc>
                <a:tc>
                  <a:txBody>
                    <a:bodyPr/>
                    <a:lstStyle/>
                    <a:p>
                      <a:r>
                        <a:rPr sz="900" b="0">
                          <a:solidFill>
                            <a:srgbClr val="000000"/>
                          </a:solidFill>
                        </a:rPr>
                        <a:t>76</a:t>
                      </a:r>
                    </a:p>
                  </a:txBody>
                  <a:tcPr anchor="t" marL="45720" marR="45720" marT="18288" marB="18288">
                    <a:solidFill>
                      <a:srgbClr val="FFFFFF"/>
                    </a:solidFill>
                  </a:tcPr>
                </a:tc>
                <a:tc>
                  <a:txBody>
                    <a:bodyPr/>
                    <a:lstStyle/>
                    <a:p>
                      <a:r>
                        <a:rPr sz="900" b="0">
                          <a:solidFill>
                            <a:srgbClr val="000000"/>
                          </a:solidFill>
                        </a:rPr>
                        <a:t>67.6</a:t>
                      </a:r>
                    </a:p>
                  </a:txBody>
                  <a:tcPr anchor="t" marL="45720" marR="45720" marT="18288" marB="18288">
                    <a:solidFill>
                      <a:srgbClr val="FFFFFF"/>
                    </a:solidFill>
                  </a:tcPr>
                </a:tc>
                <a:tc>
                  <a:txBody>
                    <a:bodyPr/>
                    <a:lstStyle/>
                    <a:p>
                      <a:r>
                        <a:rPr sz="900" b="0">
                          <a:solidFill>
                            <a:srgbClr val="000000"/>
                          </a:solidFill>
                        </a:rPr>
                        <a:t>13.3 mW</a:t>
                      </a:r>
                    </a:p>
                  </a:txBody>
                  <a:tcPr anchor="t" marL="45720" marR="45720" marT="18288" marB="18288">
                    <a:solidFill>
                      <a:srgbClr val="FFFFFF"/>
                    </a:solidFill>
                  </a:tcPr>
                </a:tc>
                <a:tc>
                  <a:txBody>
                    <a:bodyPr/>
                    <a:lstStyle/>
                    <a:p>
                      <a:r>
                        <a:rPr sz="900" b="0">
                          <a:solidFill>
                            <a:srgbClr val="000000"/>
                          </a:solidFill>
                        </a:rPr>
                        <a:t>172.5</a:t>
                      </a:r>
                    </a:p>
                  </a:txBody>
                  <a:tcPr anchor="t" marL="45720" marR="45720" marT="18288" marB="18288">
                    <a:solidFill>
                      <a:srgbClr val="FFFFFF"/>
                    </a:solidFill>
                  </a:tcPr>
                </a:tc>
                <a:tc>
                  <a:txBody>
                    <a:bodyPr/>
                    <a:lstStyle/>
                    <a:p>
                      <a:r>
                        <a:rPr sz="900" b="0">
                          <a:solidFill>
                            <a:srgbClr val="000000"/>
                          </a:solidFill>
                        </a:rPr>
                        <a:t>1-bit 2x time-interleaved FIR</a:t>
                      </a:r>
                    </a:p>
                  </a:txBody>
                  <a:tcPr anchor="t" marL="45720" marR="45720" marT="18288" marB="18288">
                    <a:solidFill>
                      <a:srgbClr val="FFFFFF"/>
                    </a:solidFill>
                  </a:tcPr>
                </a:tc>
              </a:tr>
              <a:tr h="617220">
                <a:tc>
                  <a:txBody>
                    <a:bodyPr/>
                    <a:lstStyle/>
                    <a:p>
                      <a:r>
                        <a:rPr sz="900" b="0">
                          <a:solidFill>
                            <a:srgbClr val="000000"/>
                          </a:solidFill>
                        </a:rPr>
                        <a:t>Billa '20</a:t>
                      </a:r>
                    </a:p>
                  </a:txBody>
                  <a:tcPr anchor="t" marL="45720" marR="45720" marT="18288" marB="18288">
                    <a:solidFill>
                      <a:srgbClr val="FFFFFF"/>
                    </a:solidFill>
                  </a:tcPr>
                </a:tc>
                <a:tc>
                  <a:txBody>
                    <a:bodyPr/>
                    <a:lstStyle/>
                    <a:p>
                      <a:r>
                        <a:rPr sz="900" b="0">
                          <a:solidFill>
                            <a:srgbClr val="000000"/>
                          </a:solidFill>
                        </a:rPr>
                        <a:t>180 nm / 1.8 V</a:t>
                      </a:r>
                    </a:p>
                  </a:txBody>
                  <a:tcPr anchor="t" marL="45720" marR="45720" marT="18288" marB="18288">
                    <a:solidFill>
                      <a:srgbClr val="FFFFFF"/>
                    </a:solidFill>
                  </a:tcPr>
                </a:tc>
                <a:tc>
                  <a:txBody>
                    <a:bodyPr/>
                    <a:lstStyle/>
                    <a:p>
                      <a:r>
                        <a:rPr sz="900" b="0">
                          <a:solidFill>
                            <a:srgbClr val="000000"/>
                          </a:solidFill>
                        </a:rPr>
                        <a:t>24 kHz</a:t>
                      </a:r>
                    </a:p>
                  </a:txBody>
                  <a:tcPr anchor="t" marL="45720" marR="45720" marT="18288" marB="18288">
                    <a:solidFill>
                      <a:srgbClr val="FFFFFF"/>
                    </a:solidFill>
                  </a:tcPr>
                </a:tc>
                <a:tc>
                  <a:txBody>
                    <a:bodyPr/>
                    <a:lstStyle/>
                    <a:p>
                      <a:r>
                        <a:rPr sz="900" b="0">
                          <a:solidFill>
                            <a:srgbClr val="000000"/>
                          </a:solidFill>
                        </a:rPr>
                        <a:t>104</a:t>
                      </a:r>
                    </a:p>
                  </a:txBody>
                  <a:tcPr anchor="t" marL="45720" marR="45720" marT="18288" marB="18288">
                    <a:solidFill>
                      <a:srgbClr val="FFFFFF"/>
                    </a:solidFill>
                  </a:tcPr>
                </a:tc>
                <a:tc>
                  <a:txBody>
                    <a:bodyPr/>
                    <a:lstStyle/>
                    <a:p>
                      <a:r>
                        <a:rPr sz="900" b="0">
                          <a:solidFill>
                            <a:srgbClr val="000000"/>
                          </a:solidFill>
                        </a:rPr>
                        <a:t>100.9</a:t>
                      </a:r>
                    </a:p>
                  </a:txBody>
                  <a:tcPr anchor="t" marL="45720" marR="45720" marT="18288" marB="18288">
                    <a:solidFill>
                      <a:srgbClr val="FFFFFF"/>
                    </a:solidFill>
                  </a:tcPr>
                </a:tc>
                <a:tc>
                  <a:txBody>
                    <a:bodyPr/>
                    <a:lstStyle/>
                    <a:p>
                      <a:r>
                        <a:rPr sz="900" b="0">
                          <a:solidFill>
                            <a:srgbClr val="000000"/>
                          </a:solidFill>
                        </a:rPr>
                        <a:t>265 uW</a:t>
                      </a:r>
                    </a:p>
                  </a:txBody>
                  <a:tcPr anchor="t" marL="45720" marR="45720" marT="18288" marB="18288">
                    <a:solidFill>
                      <a:srgbClr val="FFFFFF"/>
                    </a:solidFill>
                  </a:tcPr>
                </a:tc>
                <a:tc>
                  <a:txBody>
                    <a:bodyPr/>
                    <a:lstStyle/>
                    <a:p>
                      <a:r>
                        <a:rPr sz="900" b="0">
                          <a:solidFill>
                            <a:srgbClr val="000000"/>
                          </a:solidFill>
                        </a:rPr>
                        <a:t>180.5</a:t>
                      </a:r>
                    </a:p>
                  </a:txBody>
                  <a:tcPr anchor="t" marL="45720" marR="45720" marT="18288" marB="18288">
                    <a:solidFill>
                      <a:srgbClr val="FFFFFF"/>
                    </a:solidFill>
                  </a:tcPr>
                </a:tc>
                <a:tc>
                  <a:txBody>
                    <a:bodyPr/>
                    <a:lstStyle/>
                    <a:p>
                      <a:r>
                        <a:rPr sz="900" b="0">
                          <a:solidFill>
                            <a:srgbClr val="000000"/>
                          </a:solidFill>
                        </a:rPr>
                        <a:t>1-X FIR-MASH, chopping</a:t>
                      </a:r>
                    </a:p>
                  </a:txBody>
                  <a:tcPr anchor="t" marL="45720" marR="45720" marT="18288" marB="18288">
                    <a:solidFill>
                      <a:srgbClr val="FFFFFF"/>
                    </a:solidFill>
                  </a:tcPr>
                </a:tc>
              </a:tr>
              <a:tr h="617220">
                <a:tc>
                  <a:txBody>
                    <a:bodyPr/>
                    <a:lstStyle/>
                    <a:p>
                      <a:r>
                        <a:rPr sz="900" b="0">
                          <a:solidFill>
                            <a:srgbClr val="000000"/>
                          </a:solidFill>
                        </a:rPr>
                        <a:t>Theertham '22</a:t>
                      </a:r>
                    </a:p>
                  </a:txBody>
                  <a:tcPr anchor="t" marL="45720" marR="45720" marT="18288" marB="18288">
                    <a:solidFill>
                      <a:srgbClr val="FFFFFF"/>
                    </a:solidFill>
                  </a:tcPr>
                </a:tc>
                <a:tc>
                  <a:txBody>
                    <a:bodyPr/>
                    <a:lstStyle/>
                    <a:p>
                      <a:r>
                        <a:rPr sz="900" b="0">
                          <a:solidFill>
                            <a:srgbClr val="000000"/>
                          </a:solidFill>
                        </a:rPr>
                        <a:t>180 nm / 1.8 V</a:t>
                      </a:r>
                    </a:p>
                  </a:txBody>
                  <a:tcPr anchor="t" marL="45720" marR="45720" marT="18288" marB="18288">
                    <a:solidFill>
                      <a:srgbClr val="FFFFFF"/>
                    </a:solidFill>
                  </a:tcPr>
                </a:tc>
                <a:tc>
                  <a:txBody>
                    <a:bodyPr/>
                    <a:lstStyle/>
                    <a:p>
                      <a:r>
                        <a:rPr sz="900" b="0">
                          <a:solidFill>
                            <a:srgbClr val="000000"/>
                          </a:solidFill>
                        </a:rPr>
                        <a:t>250 kHz</a:t>
                      </a:r>
                    </a:p>
                  </a:txBody>
                  <a:tcPr anchor="t" marL="45720" marR="45720" marT="18288" marB="18288">
                    <a:solidFill>
                      <a:srgbClr val="FFFFFF"/>
                    </a:solidFill>
                  </a:tcPr>
                </a:tc>
                <a:tc>
                  <a:txBody>
                    <a:bodyPr/>
                    <a:lstStyle/>
                    <a:p>
                      <a:r>
                        <a:rPr sz="900" b="0">
                          <a:solidFill>
                            <a:srgbClr val="000000"/>
                          </a:solidFill>
                        </a:rPr>
                        <a:t>104</a:t>
                      </a:r>
                    </a:p>
                  </a:txBody>
                  <a:tcPr anchor="t" marL="45720" marR="45720" marT="18288" marB="18288">
                    <a:solidFill>
                      <a:srgbClr val="FFFFFF"/>
                    </a:solidFill>
                  </a:tcPr>
                </a:tc>
                <a:tc>
                  <a:txBody>
                    <a:bodyPr/>
                    <a:lstStyle/>
                    <a:p>
                      <a:r>
                        <a:rPr sz="900" b="0">
                          <a:solidFill>
                            <a:srgbClr val="000000"/>
                          </a:solidFill>
                        </a:rPr>
                        <a:t>103.2</a:t>
                      </a:r>
                    </a:p>
                  </a:txBody>
                  <a:tcPr anchor="t" marL="45720" marR="45720" marT="18288" marB="18288">
                    <a:solidFill>
                      <a:srgbClr val="FFFFFF"/>
                    </a:solidFill>
                  </a:tcPr>
                </a:tc>
                <a:tc>
                  <a:txBody>
                    <a:bodyPr/>
                    <a:lstStyle/>
                    <a:p>
                      <a:r>
                        <a:rPr sz="900" b="0">
                          <a:solidFill>
                            <a:srgbClr val="000000"/>
                          </a:solidFill>
                        </a:rPr>
                        <a:t>17.7 mW</a:t>
                      </a:r>
                    </a:p>
                  </a:txBody>
                  <a:tcPr anchor="t" marL="45720" marR="45720" marT="18288" marB="18288">
                    <a:solidFill>
                      <a:srgbClr val="FFFFFF"/>
                    </a:solidFill>
                  </a:tcPr>
                </a:tc>
                <a:tc>
                  <a:txBody>
                    <a:bodyPr/>
                    <a:lstStyle/>
                    <a:p>
                      <a:r>
                        <a:rPr sz="900" b="0">
                          <a:solidFill>
                            <a:srgbClr val="000000"/>
                          </a:solidFill>
                        </a:rPr>
                        <a:t>174.7</a:t>
                      </a:r>
                    </a:p>
                  </a:txBody>
                  <a:tcPr anchor="t" marL="45720" marR="45720" marT="18288" marB="18288">
                    <a:solidFill>
                      <a:srgbClr val="FFFFFF"/>
                    </a:solidFill>
                  </a:tcPr>
                </a:tc>
                <a:tc>
                  <a:txBody>
                    <a:bodyPr/>
                    <a:lstStyle/>
                    <a:p>
                      <a:r>
                        <a:rPr sz="900" b="0">
                          <a:solidFill>
                            <a:srgbClr val="000000"/>
                          </a:solidFill>
                        </a:rPr>
                        <a:t>1-bit, 12-tap FIR + dual R2O DAC + chop</a:t>
                      </a:r>
                    </a:p>
                  </a:txBody>
                  <a:tcPr anchor="t" marL="45720" marR="45720" marT="18288" marB="18288">
                    <a:solidFill>
                      <a:srgbClr val="FFFFFF"/>
                    </a:solidFill>
                  </a:tcPr>
                </a:tc>
              </a:tr>
            </a:tbl>
          </a:graphicData>
        </a:graphic>
      </p:graphicFrame>
      <p:pic>
        <p:nvPicPr>
          <p:cNvPr id="19" name="Picture 18" descr="tableII_performance_comparison.png"/>
          <p:cNvPicPr>
            <a:picLocks noChangeAspect="1"/>
          </p:cNvPicPr>
          <p:nvPr/>
        </p:nvPicPr>
        <p:blipFill>
          <a:blip r:embed="rId2"/>
          <a:stretch>
            <a:fillRect/>
          </a:stretch>
        </p:blipFill>
        <p:spPr>
          <a:xfrm>
            <a:off x="1237586" y="6446520"/>
            <a:ext cx="3925628" cy="2240280"/>
          </a:xfrm>
          <a:prstGeom prst="rect">
            <a:avLst/>
          </a:prstGeom>
        </p:spPr>
      </p:pic>
      <p:sp>
        <p:nvSpPr>
          <p:cNvPr id="20" name="TextBox 19"/>
          <p:cNvSpPr txBox="1"/>
          <p:nvPr/>
        </p:nvSpPr>
        <p:spPr>
          <a:xfrm>
            <a:off x="6400800" y="6492240"/>
            <a:ext cx="6309360" cy="2377440"/>
          </a:xfrm>
          <a:prstGeom prst="rect">
            <a:avLst/>
          </a:prstGeom>
          <a:noFill/>
        </p:spPr>
        <p:txBody>
          <a:bodyPr wrap="square" anchor="t">
            <a:spAutoFit/>
          </a:bodyPr>
          <a:lstStyle/>
          <a:p>
            <a:pPr/>
            <a:r>
              <a:rPr sz="1400" b="1">
                <a:solidFill>
                  <a:srgbClr val="000000"/>
                </a:solidFill>
              </a:rPr>
              <a:t>Where this work sits</a:t>
            </a:r>
          </a:p>
          <a:p>
            <a:pPr lvl="1"/>
            <a:r>
              <a:rPr sz="1200" b="0">
                <a:solidFill>
                  <a:srgbClr val="000000"/>
                </a:solidFill>
              </a:rPr>
              <a:t>2012: best FoM among SNDR&gt;70 dB; highest BW among DR&gt;80 dB designs.</a:t>
            </a:r>
          </a:p>
          <a:p>
            <a:pPr lvl="1"/>
            <a:r>
              <a:rPr sz="1200" b="0">
                <a:solidFill>
                  <a:srgbClr val="000000"/>
                </a:solidFill>
              </a:rPr>
              <a:t>Today: beaten in efficiency by later FIR variants (Jain-Pavan, Billa, Theertham) that add time-interleaving, MASH, chopping, and circuit-level ISI fixes.</a:t>
            </a:r>
          </a:p>
          <a:p>
            <a:pPr/>
            <a:r>
              <a:rPr sz="1100" b="1">
                <a:solidFill>
                  <a:srgbClr val="000000"/>
                </a:solidFill>
              </a:rPr>
              <a:t>Conclusion: foundational architecture; the FIR DAC idea persists, the compensation/ISI handling has moved on.</a:t>
            </a:r>
          </a:p>
        </p:txBody>
      </p:sp>
    </p:spTree>
    <p:extLst>
      <p:ext uri="{BB962C8B-B14F-4D97-AF65-F5344CB8AC3E}">
        <p14:creationId xmlns:p14="http://schemas.microsoft.com/office/powerpoint/2010/main" val="3032068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square">
            <a:noAutofit/>
          </a:bodyPr>
          <a:lstStyle/>
          <a:p>
            <a:r>
              <a:t>Q7. Improvement &amp; verification</a:t>
            </a:r>
          </a:p>
        </p:txBody>
      </p:sp>
      <p:sp>
        <p:nvSpPr>
          <p:cNvPr id="2" name="Content Placeholder 1">
            <a:extLst>
              <a:ext uri="{FF2B5EF4-FFF2-40B4-BE49-F238E27FC236}">
                <a16:creationId xmlns:a16="http://schemas.microsoft.com/office/drawing/2014/main" id="{59C43422-21EA-4FCD-A109-D08C2684B2CF}"/>
              </a:ext>
            </a:extLst>
          </p:cNvPr>
          <p:cNvSpPr>
            <a:spLocks noGrp="1"/>
          </p:cNvSpPr>
          <p:nvPr>
            <p:ph idx="1"/>
          </p:nvPr>
        </p:nvSpPr>
        <p:spPr>
          <a:xfrm>
            <a:off x="411480" y="1554480"/>
            <a:ext cx="12252960" cy="3108960"/>
          </a:xfrm>
        </p:spPr>
        <p:txBody>
          <a:bodyPr wrap="square">
            <a:normAutofit/>
          </a:bodyPr>
          <a:lstStyle/>
          <a:p>
            <a:pPr/>
            <a:r>
              <a:rPr sz="1600" b="1">
                <a:solidFill>
                  <a:srgbClr val="000000"/>
                </a:solidFill>
              </a:rPr>
              <a:t>Proposal: in-loop / adaptive ISI correction (or a dual-RZ / return-to-open DAC)</a:t>
            </a:r>
          </a:p>
          <a:p>
            <a:pPr lvl="1"/>
            <a:r>
              <a:rPr sz="1300" b="0">
                <a:solidFill>
                  <a:srgbClr val="000000"/>
                </a:solidFill>
              </a:rPr>
              <a:t>Why: the paper's HD2 (the SNDR limiter) is removed only off-line with a single fixed alpha.</a:t>
            </a:r>
          </a:p>
          <a:p>
            <a:pPr lvl="1"/>
            <a:r>
              <a:rPr sz="1300" b="0">
                <a:solidFill>
                  <a:srgbClr val="000000"/>
                </a:solidFill>
              </a:rPr>
              <a:t>An adaptive digital alpha tracks process/temperature; a circuit-level dual-RZ/R2O DAC removes ISI directly.</a:t>
            </a:r>
          </a:p>
          <a:p>
            <a:pPr lvl="1"/>
            <a:r>
              <a:rPr sz="1300" b="0">
                <a:solidFill>
                  <a:srgbClr val="000000"/>
                </a:solidFill>
              </a:rPr>
              <a:t>Updated architecture: keep the 8-tap FIR DAC, replace the post-facto correction with an in-loop ISI path.</a:t>
            </a:r>
          </a:p>
          <a:p>
            <a:pPr lvl="1"/>
            <a:r>
              <a:rPr sz="1300" b="0">
                <a:solidFill>
                  <a:srgbClr val="000000"/>
                </a:solidFill>
              </a:rPr>
              <a:t>Verified in MATLAB: ISI on/off + correction, reproducing Figs 29/30.</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646331"/>
          </a:xfrm>
          <a:prstGeom prst="rect">
            <a:avLst/>
          </a:prstGeom>
          <a:noFill/>
        </p:spPr>
        <p:txBody>
          <a:bodyPr wrap="square" rtlCol="0">
            <a:norm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Q7. Propose improvements to SD modulator proposed in the paper (5 points) and prove your proposed improvement by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Matlab</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simulations. (5 points)</a:t>
            </a:r>
            <a:endParaRPr lang="en-US" dirty="0"/>
          </a:p>
        </p:txBody>
      </p:sp>
      <p:pic>
        <p:nvPicPr>
          <p:cNvPr id="18" name="Picture 17" descr="FIRDSM_isi_correction.png"/>
          <p:cNvPicPr>
            <a:picLocks noChangeAspect="1"/>
          </p:cNvPicPr>
          <p:nvPr/>
        </p:nvPicPr>
        <p:blipFill>
          <a:blip r:embed="rId2"/>
          <a:stretch>
            <a:fillRect/>
          </a:stretch>
        </p:blipFill>
        <p:spPr>
          <a:xfrm>
            <a:off x="411480" y="3577873"/>
            <a:ext cx="6126480" cy="3999933"/>
          </a:xfrm>
          <a:prstGeom prst="rect">
            <a:avLst/>
          </a:prstGeom>
        </p:spPr>
      </p:pic>
      <p:pic>
        <p:nvPicPr>
          <p:cNvPr id="19" name="Picture 18" descr="fig30_psd_with_without_isi_correction.png"/>
          <p:cNvPicPr>
            <a:picLocks noChangeAspect="1"/>
          </p:cNvPicPr>
          <p:nvPr/>
        </p:nvPicPr>
        <p:blipFill>
          <a:blip r:embed="rId3"/>
          <a:stretch>
            <a:fillRect/>
          </a:stretch>
        </p:blipFill>
        <p:spPr>
          <a:xfrm>
            <a:off x="7011424" y="3474720"/>
            <a:ext cx="5362432" cy="4206240"/>
          </a:xfrm>
          <a:prstGeom prst="rect">
            <a:avLst/>
          </a:prstGeom>
        </p:spPr>
      </p:pic>
      <p:sp>
        <p:nvSpPr>
          <p:cNvPr id="20" name="TextBox 19"/>
          <p:cNvSpPr txBox="1"/>
          <p:nvPr/>
        </p:nvSpPr>
        <p:spPr>
          <a:xfrm>
            <a:off x="411480" y="7955279"/>
            <a:ext cx="12252960" cy="822960"/>
          </a:xfrm>
          <a:prstGeom prst="rect">
            <a:avLst/>
          </a:prstGeom>
          <a:noFill/>
        </p:spPr>
        <p:txBody>
          <a:bodyPr wrap="square" anchor="t">
            <a:spAutoFit/>
          </a:bodyPr>
          <a:lstStyle/>
          <a:p>
            <a:pPr/>
            <a:r>
              <a:rPr sz="1300" b="1">
                <a:solidFill>
                  <a:srgbClr val="000000"/>
                </a:solidFill>
              </a:rPr>
              <a:t>Conclusion: ISI correction recovers peak SNDR ~71 -&gt; ~74 dB and drops HD2 ~15 dB (reproduces Figs 29/30).</a:t>
            </a:r>
          </a:p>
        </p:txBody>
      </p:sp>
    </p:spTree>
    <p:extLst>
      <p:ext uri="{BB962C8B-B14F-4D97-AF65-F5344CB8AC3E}">
        <p14:creationId xmlns:p14="http://schemas.microsoft.com/office/powerpoint/2010/main" val="2431095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5311FD-260A-4278-A063-47A3AB718714}"/>
              </a:ext>
            </a:extLst>
          </p:cNvPr>
          <p:cNvSpPr>
            <a:spLocks noGrp="1"/>
          </p:cNvSpPr>
          <p:nvPr>
            <p:ph type="title"/>
          </p:nvPr>
        </p:nvSpPr>
        <p:spPr/>
        <p:txBody>
          <a:bodyPr/>
          <a:lstStyle/>
          <a:p>
            <a:r>
              <a:t>Summary</a:t>
            </a:r>
          </a:p>
        </p:txBody>
      </p:sp>
      <p:sp>
        <p:nvSpPr>
          <p:cNvPr id="5" name="Content Placeholder 4">
            <a:extLst>
              <a:ext uri="{FF2B5EF4-FFF2-40B4-BE49-F238E27FC236}">
                <a16:creationId xmlns:a16="http://schemas.microsoft.com/office/drawing/2014/main" id="{217E5A14-E916-4FCB-A099-112E039F48F5}"/>
              </a:ext>
            </a:extLst>
          </p:cNvPr>
          <p:cNvSpPr>
            <a:spLocks noGrp="1"/>
          </p:cNvSpPr>
          <p:nvPr>
            <p:ph idx="1"/>
          </p:nvPr>
        </p:nvSpPr>
        <p:spPr/>
        <p:txBody>
          <a:bodyPr wrap="square"/>
          <a:lstStyle/>
          <a:p>
            <a:pPr/>
            <a:r>
              <a:rPr sz="1600" b="1">
                <a:solidFill>
                  <a:srgbClr val="000000"/>
                </a:solidFill>
              </a:rPr>
              <a:t>Overall assessment</a:t>
            </a:r>
          </a:p>
          <a:p>
            <a:pPr/>
            <a:r>
              <a:rPr sz="1500" b="0">
                <a:solidFill>
                  <a:srgbClr val="000000"/>
                </a:solidFill>
              </a:rPr>
              <a:t>In 2012 this paper made the case that a single-bit CT delta-sigma could compete with multi-bit at tens-of-MHz bandwidths by borrowing the multi-bit feedback waveform via an FIR DAC. The idea proved durable: FIR feedback is now standard across audio, biomedical and RF CT delta-sigma designs, and the same group extended it with time-interleaved FIR, FIR-MASH, chopping, and return-to-open DACs.</a:t>
            </a:r>
          </a:p>
          <a:p>
            <a:pPr/>
            <a:r>
              <a:rPr sz="1500" b="0">
                <a:solidFill>
                  <a:srgbClr val="000000"/>
                </a:solidFill>
              </a:rPr>
              <a:t>Where the original is now beaten is in the details it left open: its analog FIR-delay compensation is complex and its ISI correction is off-line, both addressed by simpler digital-ELD and circuit-level dual-RZ/R2O techniques in later work. The architecture is foundational and still cited, but a 2025 redesign would keep the FIR DAC and replace the compensation/ISI handling.</a:t>
            </a:r>
          </a:p>
          <a:p>
            <a:pPr/>
            <a:r>
              <a:rPr sz="1400" b="1">
                <a:solidFill>
                  <a:srgbClr val="000000"/>
                </a:solidFill>
              </a:rPr>
              <a:t>Conclusion: single-bit + FIR feedback solved the 1-bit jitter/linearity problem and remains relevant; the compensation and ISI blocks are where modern designs improve on it.</a:t>
            </a:r>
          </a:p>
        </p:txBody>
      </p:sp>
    </p:spTree>
    <p:extLst>
      <p:ext uri="{BB962C8B-B14F-4D97-AF65-F5344CB8AC3E}">
        <p14:creationId xmlns:p14="http://schemas.microsoft.com/office/powerpoint/2010/main" val="3947482171"/>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t>Q4.2 Semi-digital FIR feedback DAC</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sz="1200" b="0">
                <a:solidFill>
                  <a:srgbClr val="000000"/>
                </a:solidFill>
              </a:rPr>
              <a:t>Tapped delay line filters the 1-bit output by F(z); each tap drives a switched-resistor unit element into the I4 virtual ground.</a:t>
            </a:r>
          </a:p>
          <a:p>
            <a:pPr/>
            <a:r>
              <a:rPr sz="1200" b="0">
                <a:solidFill>
                  <a:srgbClr val="000000"/>
                </a:solidFill>
              </a:rPr>
              <a:t>Switched resistors avoid current-steering distortion. Reference-side switching = constant loop gain (linear); virtual-ground-side = faster but noisier.</a:t>
            </a:r>
          </a:p>
          <a:p>
            <a:pPr/>
            <a:r>
              <a:rPr sz="1200" b="0">
                <a:solidFill>
                  <a:srgbClr val="000000"/>
                </a:solidFill>
              </a:rPr>
              <a:t>Resistor (tap) mismatch only perturbs F(z) -&gt; stays linear, no DEM needed.</a:t>
            </a:r>
          </a:p>
          <a:p>
            <a:pPr/>
            <a:r>
              <a:rPr sz="1200" b="1">
                <a:solidFill>
                  <a:srgbClr val="000000"/>
                </a:solidFill>
              </a:rPr>
              <a:t>Conclusion: the semi-digital FIR DAC turns the 1-bit stream into a small-step, inherently linear multi-level feedback.</a:t>
            </a:r>
          </a:p>
        </p:txBody>
      </p:sp>
      <p:pic>
        <p:nvPicPr>
          <p:cNvPr id="18" name="Picture 17" descr="fig01_singlebit_ctdsm_firdac_waveforms_histogram.png"/>
          <p:cNvPicPr>
            <a:picLocks noChangeAspect="1"/>
          </p:cNvPicPr>
          <p:nvPr/>
        </p:nvPicPr>
        <p:blipFill>
          <a:blip r:embed="rId2"/>
          <a:stretch>
            <a:fillRect/>
          </a:stretch>
        </p:blipFill>
        <p:spPr>
          <a:xfrm>
            <a:off x="3072498" y="1553215"/>
            <a:ext cx="2635605" cy="5510345"/>
          </a:xfrm>
          <a:prstGeom prst="rect">
            <a:avLst/>
          </a:prstGeom>
        </p:spPr>
      </p:pic>
      <p:pic>
        <p:nvPicPr>
          <p:cNvPr id="19" name="Picture 18" descr="fig16_resistive_dac_ref_vs_virtualground.jpg"/>
          <p:cNvPicPr>
            <a:picLocks noChangeAspect="1"/>
          </p:cNvPicPr>
          <p:nvPr/>
        </p:nvPicPr>
        <p:blipFill>
          <a:blip r:embed="rId3"/>
          <a:stretch>
            <a:fillRect/>
          </a:stretch>
        </p:blipFill>
        <p:spPr>
          <a:xfrm>
            <a:off x="6548120" y="2995607"/>
            <a:ext cx="4132758" cy="26255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t>Q4.3 Two-stage feed-forward opamp</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sz="1200" b="0">
                <a:solidFill>
                  <a:srgbClr val="000000"/>
                </a:solidFill>
              </a:rPr>
              <a:t>Two-stage feed-forward-compensated opamp (no Miller cap to charge -&gt; power efficient).</a:t>
            </a:r>
          </a:p>
          <a:p>
            <a:pPr/>
            <a:r>
              <a:rPr sz="1200" b="0">
                <a:solidFill>
                  <a:srgbClr val="000000"/>
                </a:solidFill>
              </a:rPr>
              <a:t>AC-coupling the feed-forward path raises the output swing -&gt; smaller caps, higher integrator gain.</a:t>
            </a:r>
          </a:p>
          <a:p>
            <a:pPr/>
            <a:r>
              <a:rPr sz="1200" b="0">
                <a:solidFill>
                  <a:srgbClr val="000000"/>
                </a:solidFill>
              </a:rPr>
              <a:t>DC gain ~ 55 dB, UGB ~ 2 GHz; I4 draws 3 mA, I3/I2/I1 0.5 mA each.</a:t>
            </a:r>
          </a:p>
          <a:p>
            <a:pPr/>
            <a:r>
              <a:rPr sz="1200" b="1">
                <a:solidFill>
                  <a:srgbClr val="000000"/>
                </a:solidFill>
              </a:rPr>
              <a:t>Conclusion: feed-forward compensation meets the 55 dB / 2 GHz target at low power.</a:t>
            </a:r>
          </a:p>
        </p:txBody>
      </p:sp>
      <p:pic>
        <p:nvPicPr>
          <p:cNvPr id="18" name="Picture 17" descr="fig12_two_stage_feedforward_opamp.png"/>
          <p:cNvPicPr>
            <a:picLocks noChangeAspect="1"/>
          </p:cNvPicPr>
          <p:nvPr/>
        </p:nvPicPr>
        <p:blipFill>
          <a:blip r:embed="rId2"/>
          <a:stretch>
            <a:fillRect/>
          </a:stretch>
        </p:blipFill>
        <p:spPr>
          <a:xfrm>
            <a:off x="4490847" y="1553215"/>
            <a:ext cx="4023106" cy="551034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t>Q4.4 Comparator latch</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sz="1200" b="0">
                <a:solidFill>
                  <a:srgbClr val="000000"/>
                </a:solidFill>
              </a:rPr>
              <a:t>Single-phase-clocked latch. Sampling phase: input amplified and held on drain parasitics. Regeneration phase: tail grounded -&gt; very high initial current -&gt; short regeneration time.</a:t>
            </a:r>
          </a:p>
          <a:p>
            <a:pPr/>
            <a:r>
              <a:rPr sz="1200" b="0">
                <a:solidFill>
                  <a:srgbClr val="000000"/>
                </a:solidFill>
              </a:rPr>
              <a:t>Rail-to-rail CMOS output drives the latch directly (no CML level-shifters).</a:t>
            </a:r>
          </a:p>
          <a:p>
            <a:pPr/>
            <a:r>
              <a:rPr sz="1200" b="0">
                <a:solidFill>
                  <a:srgbClr val="000000"/>
                </a:solidFill>
              </a:rPr>
              <a:t>Regenerative gain ~4 at 3.6 GS/s vs &lt;1 for an equal-power CML latch -&gt; low metastability.</a:t>
            </a:r>
          </a:p>
          <a:p>
            <a:pPr/>
            <a:r>
              <a:rPr sz="1200" b="1">
                <a:solidFill>
                  <a:srgbClr val="000000"/>
                </a:solidFill>
              </a:rPr>
              <a:t>Conclusion: the high-initial-current latch beats CML power at 3.6 GS/s and minimises metastability.</a:t>
            </a:r>
          </a:p>
        </p:txBody>
      </p:sp>
      <p:pic>
        <p:nvPicPr>
          <p:cNvPr id="18" name="Picture 17" descr="fig13_comparator_schematic_waveforms.png"/>
          <p:cNvPicPr>
            <a:picLocks noChangeAspect="1"/>
          </p:cNvPicPr>
          <p:nvPr/>
        </p:nvPicPr>
        <p:blipFill>
          <a:blip r:embed="rId2"/>
          <a:stretch>
            <a:fillRect/>
          </a:stretch>
        </p:blipFill>
        <p:spPr>
          <a:xfrm>
            <a:off x="2323922" y="2093504"/>
            <a:ext cx="2724692" cy="4429766"/>
          </a:xfrm>
          <a:prstGeom prst="rect">
            <a:avLst/>
          </a:prstGeom>
        </p:spPr>
      </p:pic>
      <p:pic>
        <p:nvPicPr>
          <p:cNvPr id="19" name="Picture 18" descr="fig14_regeneration_current_proposed_vs_cml.jpg"/>
          <p:cNvPicPr>
            <a:picLocks noChangeAspect="1"/>
          </p:cNvPicPr>
          <p:nvPr/>
        </p:nvPicPr>
        <p:blipFill>
          <a:blip r:embed="rId3"/>
          <a:stretch>
            <a:fillRect/>
          </a:stretch>
        </p:blipFill>
        <p:spPr>
          <a:xfrm>
            <a:off x="5140054" y="3593959"/>
            <a:ext cx="2724692" cy="1428857"/>
          </a:xfrm>
          <a:prstGeom prst="rect">
            <a:avLst/>
          </a:prstGeom>
        </p:spPr>
      </p:pic>
      <p:pic>
        <p:nvPicPr>
          <p:cNvPr id="20" name="Picture 19" descr="fig15_comparator_output_waveforms.jpg"/>
          <p:cNvPicPr>
            <a:picLocks noChangeAspect="1"/>
          </p:cNvPicPr>
          <p:nvPr/>
        </p:nvPicPr>
        <p:blipFill>
          <a:blip r:embed="rId4"/>
          <a:stretch>
            <a:fillRect/>
          </a:stretch>
        </p:blipFill>
        <p:spPr>
          <a:xfrm>
            <a:off x="7956186" y="3125472"/>
            <a:ext cx="2724692" cy="236583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a:xfrm>
            <a:off x="1304925" y="650876"/>
            <a:ext cx="10182225" cy="595298"/>
          </a:xfrm>
        </p:spPr>
        <p:txBody>
          <a:bodyPr wrap="square">
            <a:noAutofit/>
          </a:bodyPr>
          <a:lstStyle/>
          <a:p>
            <a:r>
              <a:t>Q4.5 Clock: LC-PLL and LC-VCO</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Q4. Describe the circuit implementation of the various blocks. (5 points)</a:t>
            </a:r>
            <a:endParaRPr lang="en-US" dirty="0"/>
          </a:p>
        </p:txBody>
      </p:sp>
      <p:sp>
        <p:nvSpPr>
          <p:cNvPr id="5" name="Rectangle 4">
            <a:extLst>
              <a:ext uri="{FF2B5EF4-FFF2-40B4-BE49-F238E27FC236}">
                <a16:creationId xmlns:a16="http://schemas.microsoft.com/office/drawing/2014/main" id="{B78EE7F6-80A1-46AC-983C-FD51F7AB1BF5}"/>
              </a:ext>
            </a:extLst>
          </p:cNvPr>
          <p:cNvSpPr>
            <a:spLocks noChangeAspect="1"/>
          </p:cNvSpPr>
          <p:nvPr/>
        </p:nvSpPr>
        <p:spPr bwMode="auto">
          <a:xfrm>
            <a:off x="2232482" y="1461775"/>
            <a:ext cx="8539837" cy="569322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p>
        </p:txBody>
      </p:sp>
      <p:sp>
        <p:nvSpPr>
          <p:cNvPr id="6" name="Rectangle 5">
            <a:extLst>
              <a:ext uri="{FF2B5EF4-FFF2-40B4-BE49-F238E27FC236}">
                <a16:creationId xmlns:a16="http://schemas.microsoft.com/office/drawing/2014/main" id="{2BB792BC-F6C2-48CB-82CA-A8BB873983B0}"/>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rmAutofit/>
          </a:bodyPr>
          <a:lstStyle/>
          <a:p>
            <a:pPr marL="342900" indent="-342900" algn="l" eaLnBrk="0" hangingPunct="0">
              <a:buFont typeface="Arial" panose="020B0604020202020204" pitchFamily="34" charset="0"/>
              <a:buChar char="•"/>
            </a:pPr>
            <a:r>
              <a:rPr sz="1200" b="0">
                <a:solidFill>
                  <a:srgbClr val="000000"/>
                </a:solidFill>
              </a:rPr>
              <a:t>On-chip LC-PLL: LC-VCO (cross-coupled NMOS, 2x2 nH, MOS varactor + trimmable MIM, 2.4-3.6 GHz), /128, PFD, charge pump, ~100 kHz loop BW.</a:t>
            </a:r>
          </a:p>
          <a:p>
            <a:pPr/>
            <a:r>
              <a:rPr sz="1200" b="0">
                <a:solidFill>
                  <a:srgbClr val="000000"/>
                </a:solidFill>
              </a:rPr>
              <a:t>Supplies the low-jitter 3.6 GHz clock; simulated VCO phase noise ~ -120 dBc/Hz @ 1 MHz.</a:t>
            </a:r>
          </a:p>
          <a:p>
            <a:pPr/>
            <a:r>
              <a:rPr sz="1200" b="1">
                <a:solidFill>
                  <a:srgbClr val="000000"/>
                </a:solidFill>
              </a:rPr>
              <a:t>Conclusion: the LC-PLL provides the GS/s clock whose jitter ultimately limits the modulator.</a:t>
            </a:r>
          </a:p>
        </p:txBody>
      </p:sp>
      <p:pic>
        <p:nvPicPr>
          <p:cNvPr id="18" name="Picture 17" descr="fig18_lc_pll_and_lc_vco.png"/>
          <p:cNvPicPr>
            <a:picLocks noChangeAspect="1"/>
          </p:cNvPicPr>
          <p:nvPr/>
        </p:nvPicPr>
        <p:blipFill>
          <a:blip r:embed="rId2"/>
          <a:stretch>
            <a:fillRect/>
          </a:stretch>
        </p:blipFill>
        <p:spPr>
          <a:xfrm>
            <a:off x="2350239" y="1553215"/>
            <a:ext cx="8304322" cy="551034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Q2.6B STF</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|STF| magnitude from the input feed-forward.</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FIG09</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STF peaks ~+12 dB and needs an input pre-filter; matches Fig 9.</a:t>
            </a:r>
          </a:p>
        </p:txBody>
      </p:sp>
      <p:pic>
        <p:nvPicPr>
          <p:cNvPr id="18" name="Picture 17" descr="fig09_stf_magnitude.jpg"/>
          <p:cNvPicPr>
            <a:picLocks noChangeAspect="1"/>
          </p:cNvPicPr>
          <p:nvPr/>
        </p:nvPicPr>
        <p:blipFill>
          <a:blip r:embed="rId2"/>
          <a:stretch>
            <a:fillRect/>
          </a:stretch>
        </p:blipFill>
        <p:spPr>
          <a:xfrm>
            <a:off x="1066193" y="3417427"/>
            <a:ext cx="4487487" cy="3611880"/>
          </a:xfrm>
          <a:prstGeom prst="rect">
            <a:avLst/>
          </a:prstGeom>
        </p:spPr>
      </p:pic>
      <p:pic>
        <p:nvPicPr>
          <p:cNvPr id="19" name="Picture 18" descr="FIRDSM_design_STF.png"/>
          <p:cNvPicPr>
            <a:picLocks noChangeAspect="1"/>
          </p:cNvPicPr>
          <p:nvPr/>
        </p:nvPicPr>
        <p:blipFill>
          <a:blip r:embed="rId3"/>
          <a:stretch>
            <a:fillRect/>
          </a:stretch>
        </p:blipFill>
        <p:spPr>
          <a:xfrm>
            <a:off x="6985955" y="3419328"/>
            <a:ext cx="5417820" cy="36118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Q2.6C Output PSD</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Output PSD, -4 dBFS 10 MHz tone, 2^16-pt FFT.</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FIG22</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SNDR 71.4 (paper 70.3), SNR 76.5 (74.9), HD2 -73.0 (-73.5) dB.</a:t>
            </a:r>
          </a:p>
        </p:txBody>
      </p:sp>
      <p:pic>
        <p:nvPicPr>
          <p:cNvPr id="18" name="Picture 17" descr="fig22_output_psd_minus4dBFS_10MHz.png"/>
          <p:cNvPicPr>
            <a:picLocks noChangeAspect="1"/>
          </p:cNvPicPr>
          <p:nvPr/>
        </p:nvPicPr>
        <p:blipFill>
          <a:blip r:embed="rId2"/>
          <a:stretch>
            <a:fillRect/>
          </a:stretch>
        </p:blipFill>
        <p:spPr>
          <a:xfrm>
            <a:off x="327870" y="3417427"/>
            <a:ext cx="5964134" cy="3611880"/>
          </a:xfrm>
          <a:prstGeom prst="rect">
            <a:avLst/>
          </a:prstGeom>
        </p:spPr>
      </p:pic>
      <p:pic>
        <p:nvPicPr>
          <p:cNvPr id="19" name="Picture 18" descr="FIRDSM_sim_PSD.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Q2.6D Jitter PSD</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In-band PSD with 0.3 ps rms white clock jitter: FIR vs plain 1-bit vs 4-bit.</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FIG02</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FIR jitter floor ~25 dB below plain 1-bit, similar to 4-bit.</a:t>
            </a:r>
          </a:p>
        </p:txBody>
      </p:sp>
      <p:pic>
        <p:nvPicPr>
          <p:cNvPr id="18" name="Picture 17" descr="fig02_clock_jitter_inband_psd.png"/>
          <p:cNvPicPr>
            <a:picLocks noChangeAspect="1"/>
          </p:cNvPicPr>
          <p:nvPr/>
        </p:nvPicPr>
        <p:blipFill>
          <a:blip r:embed="rId2"/>
          <a:stretch>
            <a:fillRect/>
          </a:stretch>
        </p:blipFill>
        <p:spPr>
          <a:xfrm>
            <a:off x="1132186" y="3417427"/>
            <a:ext cx="4355502" cy="3611880"/>
          </a:xfrm>
          <a:prstGeom prst="rect">
            <a:avLst/>
          </a:prstGeom>
        </p:spPr>
      </p:pic>
      <p:pic>
        <p:nvPicPr>
          <p:cNvPr id="19" name="Picture 18" descr="FIRDSM_jitter_psd.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Q2.6E Jitter filtering (FM nulls)</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In-band jitter noise vs FM jitter frequency, overlaid with |F(z)|.</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FIG26</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In-band jitter noise nulls fall at the zeros of F(z).</a:t>
            </a:r>
          </a:p>
        </p:txBody>
      </p:sp>
      <p:pic>
        <p:nvPicPr>
          <p:cNvPr id="18" name="Picture 17" descr="fig26_inband_noise_vs_jitter_frequency.png"/>
          <p:cNvPicPr>
            <a:picLocks noChangeAspect="1"/>
          </p:cNvPicPr>
          <p:nvPr/>
        </p:nvPicPr>
        <p:blipFill>
          <a:blip r:embed="rId2"/>
          <a:stretch>
            <a:fillRect/>
          </a:stretch>
        </p:blipFill>
        <p:spPr>
          <a:xfrm>
            <a:off x="963817" y="3417427"/>
            <a:ext cx="4692239" cy="3611880"/>
          </a:xfrm>
          <a:prstGeom prst="rect">
            <a:avLst/>
          </a:prstGeom>
        </p:spPr>
      </p:pic>
      <p:pic>
        <p:nvPicPr>
          <p:cNvPr id="19" name="Picture 18" descr="FIRDSM_jitter_nulls.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Q2.6F Jitter tolerance</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Max tolerable rms jitter vs jitter frequency: 1-bit+FIR vs 4-bit vs plain 1-bit.</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FIG27</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1-bit+FIR tolerates ~10x more rms jitter than plain 1-bit.</a:t>
            </a:r>
          </a:p>
        </p:txBody>
      </p:sp>
      <p:pic>
        <p:nvPicPr>
          <p:cNvPr id="18" name="Picture 17" descr="fig27_jitter_tolerance_comparison.jpg"/>
          <p:cNvPicPr>
            <a:picLocks noChangeAspect="1"/>
          </p:cNvPicPr>
          <p:nvPr/>
        </p:nvPicPr>
        <p:blipFill>
          <a:blip r:embed="rId2"/>
          <a:stretch>
            <a:fillRect/>
          </a:stretch>
        </p:blipFill>
        <p:spPr>
          <a:xfrm>
            <a:off x="902800" y="3417427"/>
            <a:ext cx="4814274" cy="3611880"/>
          </a:xfrm>
          <a:prstGeom prst="rect">
            <a:avLst/>
          </a:prstGeom>
        </p:spPr>
      </p:pic>
      <p:pic>
        <p:nvPicPr>
          <p:cNvPr id="19" name="Picture 18" descr="FIRDSM_jitter_tolerance.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Q2.6G Metastability</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In-band PSD with vs without the first-tap explicit delay.</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FIG04</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First-tap-zero recovers ~52 -&gt; ~91 dB.</a:t>
            </a:r>
          </a:p>
        </p:txBody>
      </p:sp>
      <p:pic>
        <p:nvPicPr>
          <p:cNvPr id="18" name="Picture 17" descr="fig04_metastability_explicit_delay_psd.png"/>
          <p:cNvPicPr>
            <a:picLocks noChangeAspect="1"/>
          </p:cNvPicPr>
          <p:nvPr/>
        </p:nvPicPr>
        <p:blipFill>
          <a:blip r:embed="rId2"/>
          <a:stretch>
            <a:fillRect/>
          </a:stretch>
        </p:blipFill>
        <p:spPr>
          <a:xfrm>
            <a:off x="972704" y="3417427"/>
            <a:ext cx="4674465" cy="3611880"/>
          </a:xfrm>
          <a:prstGeom prst="rect">
            <a:avLst/>
          </a:prstGeom>
        </p:spPr>
      </p:pic>
      <p:pic>
        <p:nvPicPr>
          <p:cNvPr id="19" name="Picture 18" descr="FIRDSM_metastability.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Q2.6H Nonlinear integrator</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In-band PSD with a weak cubic on the input integrator I4.</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FIG03</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Weak cubic on I4 raises the in-band floor (out-of-band noise demodulation).</a:t>
            </a:r>
          </a:p>
        </p:txBody>
      </p:sp>
      <p:pic>
        <p:nvPicPr>
          <p:cNvPr id="18" name="Picture 17" descr="fig03_nonlinear_integrator_inband_psd.jpg"/>
          <p:cNvPicPr>
            <a:picLocks noChangeAspect="1"/>
          </p:cNvPicPr>
          <p:nvPr/>
        </p:nvPicPr>
        <p:blipFill>
          <a:blip r:embed="rId2"/>
          <a:stretch>
            <a:fillRect/>
          </a:stretch>
        </p:blipFill>
        <p:spPr>
          <a:xfrm>
            <a:off x="964098" y="3417427"/>
            <a:ext cx="4691677" cy="3611880"/>
          </a:xfrm>
          <a:prstGeom prst="rect">
            <a:avLst/>
          </a:prstGeom>
        </p:spPr>
      </p:pic>
      <p:pic>
        <p:nvPicPr>
          <p:cNvPr id="19" name="Picture 18" descr="FIRDSM_nonlin_integrator.png"/>
          <p:cNvPicPr>
            <a:picLocks noChangeAspect="1"/>
          </p:cNvPicPr>
          <p:nvPr/>
        </p:nvPicPr>
        <p:blipFill>
          <a:blip r:embed="rId3"/>
          <a:stretch>
            <a:fillRect/>
          </a:stretch>
        </p:blipFill>
        <p:spPr>
          <a:xfrm>
            <a:off x="6928805" y="3419328"/>
            <a:ext cx="5532120" cy="36118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Title 14">
            <a:extLst>
              <a:ext uri="{FF2B5EF4-FFF2-40B4-BE49-F238E27FC236}">
                <a16:creationId xmlns:a16="http://schemas.microsoft.com/office/drawing/2014/main" id="{E23D0636-C901-4C2B-B821-6A6A11E5968B}"/>
              </a:ext>
            </a:extLst>
          </p:cNvPr>
          <p:cNvSpPr>
            <a:spLocks noGrp="1"/>
          </p:cNvSpPr>
          <p:nvPr>
            <p:ph type="title"/>
          </p:nvPr>
        </p:nvSpPr>
        <p:spPr/>
        <p:txBody>
          <a:bodyPr wrap="none">
            <a:normAutofit/>
          </a:bodyPr>
          <a:lstStyle/>
          <a:p>
            <a:r>
              <a:t>Q2.6I SNDR vs amplitude</a:t>
            </a:r>
          </a:p>
        </p:txBody>
      </p:sp>
      <p:sp>
        <p:nvSpPr>
          <p:cNvPr id="16" name="Content Placeholder 15">
            <a:extLst>
              <a:ext uri="{FF2B5EF4-FFF2-40B4-BE49-F238E27FC236}">
                <a16:creationId xmlns:a16="http://schemas.microsoft.com/office/drawing/2014/main" id="{E0939521-CFBF-4D48-8862-3A5BB07681FF}"/>
              </a:ext>
            </a:extLst>
          </p:cNvPr>
          <p:cNvSpPr>
            <a:spLocks noGrp="1"/>
          </p:cNvSpPr>
          <p:nvPr>
            <p:ph idx="1"/>
          </p:nvPr>
        </p:nvSpPr>
        <p:spPr>
          <a:xfrm>
            <a:off x="1316038" y="1780457"/>
            <a:ext cx="10802986" cy="914400"/>
          </a:xfrm>
        </p:spPr>
        <p:txBody>
          <a:bodyPr wrap="square">
            <a:normAutofit fontScale="92500" lnSpcReduction="20000"/>
          </a:bodyPr>
          <a:lstStyle/>
          <a:p>
            <a:pPr/>
            <a:r>
              <a:rPr sz="1300" b="0">
                <a:solidFill>
                  <a:srgbClr val="000000"/>
                </a:solidFill>
              </a:rPr>
              <a:t>Simulated: SNR/SNDR vs input amplitude sweep including the ISI kink.</a:t>
            </a:r>
          </a:p>
        </p:txBody>
      </p:sp>
      <p:sp>
        <p:nvSpPr>
          <p:cNvPr id="17" name="TextBox 16">
            <a:extLst>
              <a:ext uri="{FF2B5EF4-FFF2-40B4-BE49-F238E27FC236}">
                <a16:creationId xmlns:a16="http://schemas.microsoft.com/office/drawing/2014/main" id="{48E0C328-051A-42B7-A5C6-6DCB5AFBD90F}"/>
              </a:ext>
            </a:extLst>
          </p:cNvPr>
          <p:cNvSpPr txBox="1"/>
          <p:nvPr/>
        </p:nvSpPr>
        <p:spPr>
          <a:xfrm>
            <a:off x="649357" y="0"/>
            <a:ext cx="12355443" cy="369332"/>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cs typeface="Times New Roman" panose="02020603050405020304" pitchFamily="18" charset="0"/>
              </a:rPr>
              <a:t>Q2. </a:t>
            </a:r>
            <a:r>
              <a:rPr lang="en-US" sz="1800" dirty="0">
                <a:effectLst/>
                <a:latin typeface="Times New Roman" panose="02020603050405020304" pitchFamily="18" charset="0"/>
                <a:ea typeface="SimSun" panose="02010600030101010101" pitchFamily="2" charset="-122"/>
              </a:rPr>
              <a:t>Simulate the SD architecture described in the paper using a </a:t>
            </a:r>
            <a:r>
              <a:rPr lang="en-US" sz="1800" dirty="0" err="1">
                <a:effectLst/>
                <a:latin typeface="Times New Roman" panose="02020603050405020304" pitchFamily="18" charset="0"/>
                <a:ea typeface="SimSun" panose="02010600030101010101" pitchFamily="2" charset="-122"/>
              </a:rPr>
              <a:t>Matlab</a:t>
            </a:r>
            <a:r>
              <a:rPr lang="en-US" sz="1800" dirty="0">
                <a:effectLst/>
                <a:latin typeface="Times New Roman" panose="02020603050405020304" pitchFamily="18" charset="0"/>
                <a:ea typeface="SimSun" panose="02010600030101010101" pitchFamily="2" charset="-122"/>
              </a:rPr>
              <a:t> script. </a:t>
            </a:r>
            <a:endParaRPr lang="en-US" dirty="0"/>
          </a:p>
        </p:txBody>
      </p:sp>
      <p:sp>
        <p:nvSpPr>
          <p:cNvPr id="2" name="Rectangle 1">
            <a:extLst>
              <a:ext uri="{FF2B5EF4-FFF2-40B4-BE49-F238E27FC236}">
                <a16:creationId xmlns:a16="http://schemas.microsoft.com/office/drawing/2014/main" id="{257924BA-2138-49CB-942A-604A33A45279}"/>
              </a:ext>
            </a:extLst>
          </p:cNvPr>
          <p:cNvSpPr>
            <a:spLocks noChangeAspect="1"/>
          </p:cNvSpPr>
          <p:nvPr/>
        </p:nvSpPr>
        <p:spPr bwMode="auto">
          <a:xfrm>
            <a:off x="223837" y="3005947"/>
            <a:ext cx="6172200"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Published result - FIG21</a:t>
            </a:r>
          </a:p>
        </p:txBody>
      </p:sp>
      <p:sp>
        <p:nvSpPr>
          <p:cNvPr id="6" name="Rectangle 5">
            <a:extLst>
              <a:ext uri="{FF2B5EF4-FFF2-40B4-BE49-F238E27FC236}">
                <a16:creationId xmlns:a16="http://schemas.microsoft.com/office/drawing/2014/main" id="{6B513405-7BBF-457B-8541-399AC81BEEAC}"/>
              </a:ext>
            </a:extLst>
          </p:cNvPr>
          <p:cNvSpPr>
            <a:spLocks noChangeAspect="1"/>
          </p:cNvSpPr>
          <p:nvPr/>
        </p:nvSpPr>
        <p:spPr bwMode="auto">
          <a:xfrm>
            <a:off x="6608765" y="3007848"/>
            <a:ext cx="6172201" cy="4114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sz="1200" b="1">
                <a:solidFill>
                  <a:srgbClr val="000000"/>
                </a:solidFill>
              </a:rPr>
              <a:t>Your result - MATLAB</a:t>
            </a:r>
          </a:p>
        </p:txBody>
      </p:sp>
      <p:sp>
        <p:nvSpPr>
          <p:cNvPr id="7" name="Rectangle 6">
            <a:extLst>
              <a:ext uri="{FF2B5EF4-FFF2-40B4-BE49-F238E27FC236}">
                <a16:creationId xmlns:a16="http://schemas.microsoft.com/office/drawing/2014/main" id="{38F4E74B-0AE4-49C9-83D4-C6DA8DEA29E6}"/>
              </a:ext>
            </a:extLst>
          </p:cNvPr>
          <p:cNvSpPr>
            <a:spLocks noChangeAspect="1"/>
          </p:cNvSpPr>
          <p:nvPr/>
        </p:nvSpPr>
        <p:spPr bwMode="auto">
          <a:xfrm>
            <a:off x="223835" y="7299016"/>
            <a:ext cx="12557129" cy="1351370"/>
          </a:xfrm>
          <a:prstGeom prst="rect">
            <a:avLst/>
          </a:prstGeom>
          <a:ln>
            <a:prstDash val="sysDot"/>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300" b="1">
                <a:solidFill>
                  <a:srgbClr val="000000"/>
                </a:solidFill>
              </a:rPr>
              <a:t>Conclusion: Peak SNR 75.7, SNDR 71.6, DR ~81 dB; ISI kink near full scale.</a:t>
            </a:r>
          </a:p>
        </p:txBody>
      </p:sp>
      <p:pic>
        <p:nvPicPr>
          <p:cNvPr id="18" name="Picture 17" descr="fig21_snr_sndr_vs_input_amplitude.png"/>
          <p:cNvPicPr>
            <a:picLocks noChangeAspect="1"/>
          </p:cNvPicPr>
          <p:nvPr/>
        </p:nvPicPr>
        <p:blipFill>
          <a:blip r:embed="rId2"/>
          <a:stretch>
            <a:fillRect/>
          </a:stretch>
        </p:blipFill>
        <p:spPr>
          <a:xfrm>
            <a:off x="324310" y="3417427"/>
            <a:ext cx="5971253" cy="3611880"/>
          </a:xfrm>
          <a:prstGeom prst="rect">
            <a:avLst/>
          </a:prstGeom>
        </p:spPr>
      </p:pic>
      <p:pic>
        <p:nvPicPr>
          <p:cNvPr id="19" name="Picture 18" descr="FIRDSM_snr_vs_amp.png"/>
          <p:cNvPicPr>
            <a:picLocks noChangeAspect="1"/>
          </p:cNvPicPr>
          <p:nvPr/>
        </p:nvPicPr>
        <p:blipFill>
          <a:blip r:embed="rId3"/>
          <a:stretch>
            <a:fillRect/>
          </a:stretch>
        </p:blipFill>
        <p:spPr>
          <a:xfrm>
            <a:off x="6985955" y="3419328"/>
            <a:ext cx="5417820" cy="3611880"/>
          </a:xfrm>
          <a:prstGeom prst="rect">
            <a:avLst/>
          </a:prstGeom>
        </p:spPr>
      </p:pic>
    </p:spTree>
  </p:cSld>
  <p:clrMapOvr>
    <a:masterClrMapping/>
  </p:clrMapOvr>
</p:sld>
</file>

<file path=ppt/theme/theme1.xml><?xml version="1.0" encoding="utf-8"?>
<a:theme xmlns:a="http://schemas.openxmlformats.org/drawingml/2006/main" name="text">
  <a:themeElements>
    <a:clrScheme name="">
      <a:dk1>
        <a:srgbClr val="000000"/>
      </a:dk1>
      <a:lt1>
        <a:srgbClr val="FFFFFF"/>
      </a:lt1>
      <a:dk2>
        <a:srgbClr val="000000"/>
      </a:dk2>
      <a:lt2>
        <a:srgbClr val="108BD9"/>
      </a:lt2>
      <a:accent1>
        <a:srgbClr val="ADC610"/>
      </a:accent1>
      <a:accent2>
        <a:srgbClr val="002B60"/>
      </a:accent2>
      <a:accent3>
        <a:srgbClr val="FFFFFF"/>
      </a:accent3>
      <a:accent4>
        <a:srgbClr val="000000"/>
      </a:accent4>
      <a:accent5>
        <a:srgbClr val="D3DFAA"/>
      </a:accent5>
      <a:accent6>
        <a:srgbClr val="002656"/>
      </a:accent6>
      <a:hlink>
        <a:srgbClr val="A10058"/>
      </a:hlink>
      <a:folHlink>
        <a:srgbClr val="66BCAA"/>
      </a:folHlink>
    </a:clrScheme>
    <a:fontScheme name="text">
      <a:majorFont>
        <a:latin typeface="Bookman Old Style"/>
        <a:ea typeface=""/>
        <a:cs typeface=""/>
      </a:majorFont>
      <a:minorFont>
        <a:latin typeface="Tahoma"/>
        <a:ea typeface=""/>
        <a:cs typeface=""/>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text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Pages>0</Pages>
  <Words>1157</Words>
  <Characters>0</Characters>
  <Application>Microsoft Office PowerPoint</Application>
  <PresentationFormat>Custom</PresentationFormat>
  <Lines>0</Lines>
  <Paragraphs>86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Gill Sans</vt:lpstr>
      <vt:lpstr>Arial</vt:lpstr>
      <vt:lpstr>Bookman Old Style</vt:lpstr>
      <vt:lpstr>Calibri</vt:lpstr>
      <vt:lpstr>Tahoma</vt:lpstr>
      <vt:lpstr>Times</vt:lpstr>
      <vt:lpstr>Times New Roman</vt:lpstr>
      <vt:lpstr>text</vt:lpstr>
      <vt:lpstr>Paper Title </vt:lpstr>
      <vt:lpstr>Q1.Introduction</vt:lpstr>
      <vt:lpstr>Q2 Matlab model and List of coefficients</vt:lpstr>
      <vt:lpstr>Q2.1 Proposed technique</vt:lpstr>
      <vt:lpstr>Q2.2 Voltage scaling</vt:lpstr>
      <vt:lpstr>Q2.3 Thermal noise and output spectrum</vt:lpstr>
      <vt:lpstr>Q2.4 Decimation Filter</vt:lpstr>
      <vt:lpstr>Q2.5 List of simulation results</vt:lpstr>
      <vt:lpstr>Q2.6-X Matlab simulation comparison</vt:lpstr>
      <vt:lpstr>Q3.1 Circuit Non-idealities: Finite amplifier gain &amp; BW</vt:lpstr>
      <vt:lpstr>Q3.2 Circuit Non-idealities: DAC mismatch</vt:lpstr>
      <vt:lpstr>Q3.3 Circuit Non-idealities: Excess Loop Delay (ELD)</vt:lpstr>
      <vt:lpstr>Q3.4 Circuit Non-idealities: Clock jitter</vt:lpstr>
      <vt:lpstr>Q3.5 Circuit Non-idealities: non-linearity of integrator</vt:lpstr>
      <vt:lpstr>Q4.1-X Circuit Implementation – Block 1</vt:lpstr>
      <vt:lpstr>Q5. Strength and weakness of the design</vt:lpstr>
      <vt:lpstr>Q6. Comparison</vt:lpstr>
      <vt:lpstr>Q7. Proposed Improvements</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 Delft -  a bird’s eye view</dc:title>
  <dc:creator>shoubhik</dc:creator>
  <cp:lastModifiedBy>sheep Cow</cp:lastModifiedBy>
  <cp:revision>316</cp:revision>
  <cp:lastPrinted>2020-05-24T21:00:26Z</cp:lastPrinted>
  <dcterms:modified xsi:type="dcterms:W3CDTF">2026-06-09T14:58:09Z</dcterms:modified>
</cp:coreProperties>
</file>